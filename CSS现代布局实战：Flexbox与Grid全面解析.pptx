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5.svg" ContentType="image/svg+xml"/>
  <Override PartName="/ppt/media/image127.svg" ContentType="image/svg+xml"/>
  <Override PartName="/ppt/media/image130.svg" ContentType="image/svg+xml"/>
  <Override PartName="/ppt/media/image132.svg" ContentType="image/svg+xml"/>
  <Override PartName="/ppt/media/image138.svg" ContentType="image/svg+xml"/>
  <Override PartName="/ppt/media/image14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1.svg" ContentType="image/svg+xml"/>
  <Override PartName="/ppt/media/image154.svg" ContentType="image/svg+xml"/>
  <Override PartName="/ppt/media/image156.svg" ContentType="image/svg+xml"/>
  <Override PartName="/ppt/media/image159.svg" ContentType="image/svg+xml"/>
  <Override PartName="/ppt/media/image16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69.svg" ContentType="image/svg+xml"/>
  <Override PartName="/ppt/media/image171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79.svg" ContentType="image/svg+xml"/>
  <Override PartName="/ppt/media/image18.svg" ContentType="image/svg+xml"/>
  <Override PartName="/ppt/media/image181.svg" ContentType="image/svg+xml"/>
  <Override PartName="/ppt/media/image183.svg" ContentType="image/svg+xml"/>
  <Override PartName="/ppt/media/image185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7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300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0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分享。在网页开发中，布局一直是核心且充满挑战的部分。今天，我们将一起深入探讨现代CSS布局的两大基石——Flexbox和Grid。通过本次分享，你将学会如何告别传统布局的困境，用更优雅、更强大的方式构建网页。让我们一起开始这场现代布局的探索之旅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会回顾传统布局的痛点，理解为什么需要Flexbox和Grid。接着，我们将分别深入学习Flex和Grid的核心概念与用法。最后，我们会对比两者的异同，并探讨在实际项目中如何结合使用它们，以达到最佳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在第一部分，我们将回顾过去，看看在Flexbox和Grid出现之前，我们是如何进行网页布局的，以及那些令人头疼的挑战。这将帮助我们更好地理解现代布局工具的价值所在。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过去，我们主要依赖float、position这些属性来布局。大家可以回忆一下，要实现一个简单的垂直居中，是不是需要写一大堆代码？或者用float做两栏布局，当内容高度不一致时，底部就无法对齐，非常难看。这些问题不仅让我们的代码变得复杂，也让布局变得非常脆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幸运的是，CSS的发展为我们带来了曙光。Flexbox和Grid的出现，彻底改变了游戏规则。简单来说，Flexbox擅长处理一维的行或列布局，而Grid则专注于更复杂的二维网格布局。掌握这两种工具，将让你的布局工作变得前所未有的简单和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接下来，我们进入第二部分，深入了解Flex弹性布局。我们将从它的核心概念开始，一步步掌握它的各种属性和用法，让你彻底学会如何用Flex解决日常布局问题。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要理解Flexbox，首先要掌握几个核心概念。简单来说，你只需要记住：给父元素设置display: flex，它就变成了弹性容器，里面的子元素就变成了弹性项目。这些项目会沿着一条主轴排列，而与主轴垂直的就是交叉轴。理解了这根主轴和交叉轴，你就掌握了Flex布局的精髓。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Flex容器的第一个重要属性是flex-direction，它决定了主轴的方向。默认是row，也就是水平排列。你可以把它改成column，让项目垂直排列。这对于快速切换布局方向非常有用。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justify-content属性用于控制项目在主轴上的对齐方式。这是一个非常强大的属性，比如space-between可以轻松实现两端对齐的导航栏，而center则可以让项目在水平方向上居中。掌握它，你就能轻松应对各种水平对齐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与justify-content对应，align-items控制的是项目在交叉轴上的对齐。最常用的就是center值，它可以让项目在垂直方向上完美居中，彻底解决了我们之前的痛点。只需要一行代码，是不是非常神奇？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在Flex项目上，我们经常会用到flex属性。它是一个简写属性，最常见的用法就是flex: 1。这个简单的设置意味着“让这个项目尽可能地占据剩余空间”。这在实现自适应布局时非常有用，比如一个固定侧边栏和一个自适应内容区的布局。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如左侧代码所示，flex:1 实际上是 flex-grow:1, flex-shrink:1, flex-basis:0% 的简写。这三个子属性分别控制了项目在空间充足时的放大能力、空间不足时的收缩能力以及项目的基准大小。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让我们来看一个最经典的Flex实战案例：完美居中。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只需三行代码：display: flex，加上水平居中和垂直居中，就能实现任何元素在容器中的完美居中。这在过去是难以想象的，而现在，它变得如此简单直观。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学完了一维的Flex，我们现在进入更强大的二维布局世界——Grid网格布局。Grid将让你像搭积木一样，精确地构建复杂的页面结构。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rid的概念比Flex稍多一些，但同样直观。想象一下一张表格，Grid就是这样一个二维网格系统。我们有网格容器和网格项，通过网格线来划分出行和列，交叉形成单元格。我们可以将多个单元格合并成一个网格区域，从而实现复杂的布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rid的核心在于定义行列。grid-template-columns用于定义列。这里介绍几个强大的工具：fr单位，代表份数，用于分配剩余空间；repeat函数，可以重复定义轨道；以及结合auto-fit和minmax，我们可以轻松实现响应式布局，让列数根据屏幕宽度自动调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Grid项目上，我们可以使用grid-column和grid-row属性来控制它占据哪些网格。通过指定起始和结束的网格线，我们可以轻松实现类似表格中合并单元格的效果。比如，让一个项目占据两列或者两行，这在构建复杂布局时非常有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rid最擅长的就是构建页面的整体布局。看这个例子，我们通过grid-template-areas，用一种非常直观的、类似ASCII艺术的方式，就定义了页面的头部、侧边栏、主内容和底部的布局。这比传统的布局方式要清晰和强大得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我们已经分别学习了Flex和Grid，那么在实际项目中，我们应该如何选择呢？最后一部分，我们将对它们进行对比，并探讨最佳实践。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lex和Grid最核心的区别在于维度。Flex是一维的，专注于行或列；而Grid是二维的，同时处理行和列。这张图非常直观地展示了这一点。简单来说，如果你只需要排列一行或一列元素，用Flex。如果你需要规划一个复杂的二维区域，用Grid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佳实践并不是二选一，而是强强联合。我们通常用Grid来搭建页面的整体大框架，比如划分出头部、内容区和底部。然后，在每个区域内部，再用Flex来处理具体的元素排列，比如导航栏的对齐、按钮的间距等。这样宏观与微观结合，才能发挥出它们最大的威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Flexbox就像一把瑞士军刀，小巧灵活，能解决大部分日常布局问题。而Grid则像一张蓝图，帮助我们构建宏伟的建筑。掌握它们并结合使用，你就能成为一名真正的布局大师。希望今天的分享能帮助大家开启现代CSS布局的新篇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 * **</a:t>
            </a:r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：一维布局，使用</a:t>
            </a:r>
            <a:r>
              <a:rPr lang="en-US" altLang="zh-CN">
                <a:sym typeface="+mn-ea"/>
              </a:rPr>
              <a:t>Flex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ym typeface="+mn-ea"/>
              </a:rPr>
              <a:t>`justify-content: space-between` </a:t>
            </a:r>
            <a:r>
              <a:rPr lang="zh-CN" altLang="en-US">
                <a:sym typeface="+mn-ea"/>
              </a:rPr>
              <a:t>可以轻松实现。</a:t>
            </a:r>
            <a:r>
              <a:rPr lang="en-US" altLang="zh-CN">
                <a:sym typeface="+mn-ea"/>
              </a:rPr>
              <a:t> * *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* **</a:t>
            </a:r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：二维布局，使用</a:t>
            </a:r>
            <a:r>
              <a:rPr lang="en-US" altLang="zh-CN">
                <a:sym typeface="+mn-ea"/>
              </a:rPr>
              <a:t>Grid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ym typeface="+mn-ea"/>
              </a:rPr>
              <a:t>`grid-template-areas` </a:t>
            </a:r>
            <a:r>
              <a:rPr lang="zh-CN" altLang="en-US">
                <a:sym typeface="+mn-ea"/>
              </a:rPr>
              <a:t>是最佳选择。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：二维布局，使用</a:t>
            </a:r>
            <a:r>
              <a:rPr lang="en-US" altLang="zh-CN">
                <a:sym typeface="+mn-ea"/>
              </a:rPr>
              <a:t>Grid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ym typeface="+mn-ea"/>
              </a:rPr>
              <a:t>`repeat(auto-fit, minmax(...))` </a:t>
            </a:r>
            <a:r>
              <a:rPr lang="zh-CN" altLang="en-US">
                <a:sym typeface="+mn-ea"/>
              </a:rPr>
              <a:t>是实现此效果的利器。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* **</a:t>
            </a:r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：一维布局，使用</a:t>
            </a:r>
            <a:r>
              <a:rPr lang="en-US" altLang="zh-CN">
                <a:sym typeface="+mn-ea"/>
              </a:rPr>
              <a:t>Flex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ym typeface="+mn-ea"/>
              </a:rPr>
              <a:t>`flex-direction: column`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`justify-content: space-between` </a:t>
            </a:r>
            <a:r>
              <a:rPr lang="zh-CN" altLang="en-US">
                <a:sym typeface="+mn-ea"/>
              </a:rPr>
              <a:t>可以实现。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接下来</a:t>
            </a:r>
            <a:r>
              <a:rPr lang="en-US" sz="1400" b="0" i="0" u="none" strike="noStrike">
                <a:solidFill>
                  <a:srgbClr val="000000"/>
                </a:solidFill>
              </a:rPr>
              <a:t>我们将深入探索CSS3的高级特效世界，学习如何使用2D和3D转换、过渡以及动画，来打造引人入胜的现代Web体验。这些技术是提升网站交互性和视觉吸引力的关键，让我们一起开始吧！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核心部分。首先，我们会学习2D转换，掌握元素的平移、旋转、缩放和倾斜。接着，我们将进入三维空间，探索3D转换的奥秘。然后，我们会学习如何使用过渡为元素添加平滑的动画效果。最后，我们将精通CSS3动画，创建复杂的关键帧动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我们首先进入第一部分，学习CSS3的2D转换。Transform属性是CSS3中最强大的工具之一，它可以让我们在不影响文档流的情况下，对元素进行各种变换操作，是构建现代网页布局和视觉效果的基础。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什么是2D转换呢？简单来说，它就像给元素施了魔法，可以让它平移、旋转、缩放和倾斜。最神奇的是，这些变换不会影响到其他元素的布局，而且还能利用硬件加速，让动画更流畅。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第一个变换是translate，也就是平移。通过translate，我们可以精确地移动元素的位置。比如这个例子，当鼠标悬停时，元素会向右下方移动。我们还可以使用translateX和translateY来单独控制水平或垂直方向的移动。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接下来是rotate，旋转。我们可以让元素顺时针或逆时针旋转任意角度。这里要特别注意transform-origin属性，它可以改变旋转的中心点，比如我们可以让元素绕着它的右下角旋转，创造出更多样的效果。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scale方法可以用来缩放元素。我们可以分别控制水平和垂直方向的缩放比例，实现拉伸或压缩的效果。比如这个例子，鼠标悬停时，元素在水平方向放大1.5倍，垂直方向放大2倍。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skew方法可以让元素产生倾斜效果，就像把一个正方形变成平行四边形。它同样可以分别控制X轴和Y轴的倾斜角度，创造出独特的视觉效果。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掌握了2D转换，我们现在进入更酷的3D世界。3D转换在2D的基础上增加了Z轴，让我们可以创造出真正有空间感的立体效果。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实现3D效果，首先要理解透视。想象一下我们的眼睛到屏幕的距离，这个距离就是perspective。我们把它设置在父容器上，就能为子元素创造出一个三维空间。然后，我们就可以使用rotateY等方法，让元素在这个空间里旋转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在创建3D场景时，比如一个立方体，我们需要确保子元素也处于3D空间中。这时就要用到transform-style: preserve-3d。另外，backface-visibility: hidden这个属性非常有用，它可以让元素的背面在旋转时不可见，这是制作卡片翻转效果的必备技巧。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一个综合案例：一个3D旋转相册。这个效果结合了我们学过的3D转换、过渡和动画知识。通过设置perspective和preserve-3d，我们创建了一个三维空间，然后通过rotateY和JavaScript控制，实现了相册的自动和手动旋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学会了变换，我们来看看如何让这些变换变得平滑。这就是CSS3过渡（Transition）要解决的问题。它可以为元素的状态变化添加一个优雅的动画效果。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过渡，顾名思义，就是让元素的变化过程变得平滑。比如，当鼠标悬停时，元素的颜色从蓝色变成红色，如果没有过渡，变化是瞬间的；有了过渡，这个变化就会在一段时间内平滑完成。这大大提升了用户体验。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有四个核心属性：property（哪个属性过渡）、duration（持续多久）、timing-function（速度曲线）和delay（延迟多久）。我们通常使用简写形式，把它们写在一行里，非常方便。不过要记住，最好明确指定要过渡的属性，而不是用all，这样性能更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过渡虽然强大，但它需要用户交互才能触发。如果我们想要更复杂、更独立的动画效果，就需要用到CSS3动画（Animation）。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在这一部分，我们将学习如何使用 @keyframes 定义动画序列，让元素在页面加载时就动起来，或者通过 JS 控制更复杂的播放逻辑。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动画的核心是关键帧。我们可以把动画想象成一段视频，@keyframes规则就是剧本，它定义了动画在开始、中间和结束等不同时间点的样式。然后我们通过animation属性，把这个剧本应用到元素上，它就会自动播放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这里是一个 @keyframes 的例子。我们定义了一个名为 colorChange 的动画，它在 0% 时背景是红色，50% 时变成黄色并放大，100% 时又变回蓝色并恢复原大小。通过这种方式，我们可以精确控制动画的每一个细节。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定义好动画后，我们就可以用animation属性来控制它了。比如，我们可以设置动画播放的次数，是播放一次还是无限循环；还可以设置播放方向，是正常播放还是来回交替播放；甚至可以让动画结束后停留在最后一帧。这些控制属性让动画变得非常灵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今天的内容。Transform是基础，用来改变元素的形态；Transition是为状态变化添加平滑效果；而Animation则用于创建更复杂的自动播放动画。在实际开发中，我们要记住优先使用transform和opacity来做动画，这样性能会更好。CSS的动画世界还在不断发展，期待未来更多的精彩特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5296958"/>
            <a:ext cx="1778000" cy="304271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603500" y="5296958"/>
            <a:ext cx="2413000" cy="30427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61000" y="5296958"/>
            <a:ext cx="1778000" cy="304271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955800"/>
            <a:ext cx="876300" cy="736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866900"/>
            <a:ext cx="3556000" cy="1524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72250" y="1955800"/>
            <a:ext cx="876300" cy="736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721600" y="1866900"/>
            <a:ext cx="3556000" cy="1524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4470400"/>
            <a:ext cx="876300" cy="736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4381500"/>
            <a:ext cx="3556000" cy="1524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6572250" y="4470400"/>
            <a:ext cx="876300" cy="736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7721600" y="4381500"/>
            <a:ext cx="3556000" cy="1524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tags" Target="../tags/tag16.xml"/><Relationship Id="rId31" Type="http://schemas.openxmlformats.org/officeDocument/2006/relationships/notesSlide" Target="../notesSlides/notesSlide4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15.xml"/><Relationship Id="rId29" Type="http://schemas.openxmlformats.org/officeDocument/2006/relationships/tags" Target="../tags/tag33.xml"/><Relationship Id="rId28" Type="http://schemas.openxmlformats.org/officeDocument/2006/relationships/tags" Target="../tags/tag32.xml"/><Relationship Id="rId27" Type="http://schemas.openxmlformats.org/officeDocument/2006/relationships/image" Target="../media/image26.svg"/><Relationship Id="rId26" Type="http://schemas.openxmlformats.org/officeDocument/2006/relationships/image" Target="../media/image25.png"/><Relationship Id="rId25" Type="http://schemas.openxmlformats.org/officeDocument/2006/relationships/tags" Target="../tags/tag31.xml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image" Target="../media/image24.svg"/><Relationship Id="rId2" Type="http://schemas.openxmlformats.org/officeDocument/2006/relationships/tags" Target="../tags/tag14.xml"/><Relationship Id="rId19" Type="http://schemas.openxmlformats.org/officeDocument/2006/relationships/image" Target="../media/image23.png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image" Target="../media/image22.svg"/><Relationship Id="rId12" Type="http://schemas.openxmlformats.org/officeDocument/2006/relationships/image" Target="../media/image21.png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32.svg"/><Relationship Id="rId25" Type="http://schemas.openxmlformats.org/officeDocument/2006/relationships/notesSlide" Target="../notesSlides/notesSlide7.x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37.jpeg"/><Relationship Id="rId22" Type="http://schemas.openxmlformats.org/officeDocument/2006/relationships/hyperlink" Target="https://www.runoob.com/css3/css3-flexbox.html" TargetMode="External"/><Relationship Id="rId21" Type="http://schemas.openxmlformats.org/officeDocument/2006/relationships/tags" Target="../tags/tag45.xml"/><Relationship Id="rId20" Type="http://schemas.openxmlformats.org/officeDocument/2006/relationships/image" Target="../media/image36.svg"/><Relationship Id="rId2" Type="http://schemas.openxmlformats.org/officeDocument/2006/relationships/image" Target="../media/image31.png"/><Relationship Id="rId19" Type="http://schemas.openxmlformats.org/officeDocument/2006/relationships/image" Target="../media/image35.png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svg"/><Relationship Id="rId8" Type="http://schemas.openxmlformats.org/officeDocument/2006/relationships/image" Target="../media/image44.png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svg"/><Relationship Id="rId8" Type="http://schemas.openxmlformats.org/officeDocument/2006/relationships/image" Target="../media/image48.png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3.svg"/><Relationship Id="rId12" Type="http://schemas.openxmlformats.org/officeDocument/2006/relationships/image" Target="../media/image52.png"/><Relationship Id="rId11" Type="http://schemas.openxmlformats.org/officeDocument/2006/relationships/image" Target="../media/image51.svg"/><Relationship Id="rId10" Type="http://schemas.openxmlformats.org/officeDocument/2006/relationships/image" Target="../media/image50.pn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svg"/><Relationship Id="rId8" Type="http://schemas.openxmlformats.org/officeDocument/2006/relationships/image" Target="../media/image60.png"/><Relationship Id="rId7" Type="http://schemas.openxmlformats.org/officeDocument/2006/relationships/image" Target="../media/image59.svg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3.svg"/><Relationship Id="rId10" Type="http://schemas.openxmlformats.org/officeDocument/2006/relationships/image" Target="../media/image62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4.svg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18.svg"/><Relationship Id="rId2" Type="http://schemas.openxmlformats.org/officeDocument/2006/relationships/image" Target="../media/image69.pn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svg"/><Relationship Id="rId8" Type="http://schemas.openxmlformats.org/officeDocument/2006/relationships/image" Target="../media/image80.png"/><Relationship Id="rId7" Type="http://schemas.openxmlformats.org/officeDocument/2006/relationships/image" Target="../media/image79.svg"/><Relationship Id="rId6" Type="http://schemas.openxmlformats.org/officeDocument/2006/relationships/image" Target="../media/image78.png"/><Relationship Id="rId5" Type="http://schemas.openxmlformats.org/officeDocument/2006/relationships/image" Target="../media/image77.svg"/><Relationship Id="rId4" Type="http://schemas.openxmlformats.org/officeDocument/2006/relationships/image" Target="../media/image76.png"/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7" Type="http://schemas.openxmlformats.org/officeDocument/2006/relationships/notesSlide" Target="../notesSlides/notesSlide14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86.jpeg"/><Relationship Id="rId14" Type="http://schemas.openxmlformats.org/officeDocument/2006/relationships/hyperlink" Target="https://www.runoob.com/css3/css-grid.html" TargetMode="External"/><Relationship Id="rId13" Type="http://schemas.openxmlformats.org/officeDocument/2006/relationships/image" Target="../media/image85.svg"/><Relationship Id="rId12" Type="http://schemas.openxmlformats.org/officeDocument/2006/relationships/image" Target="../media/image84.png"/><Relationship Id="rId11" Type="http://schemas.openxmlformats.org/officeDocument/2006/relationships/image" Target="../media/image83.svg"/><Relationship Id="rId10" Type="http://schemas.openxmlformats.org/officeDocument/2006/relationships/image" Target="../media/image82.png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2.svg"/><Relationship Id="rId6" Type="http://schemas.openxmlformats.org/officeDocument/2006/relationships/image" Target="../media/image91.png"/><Relationship Id="rId5" Type="http://schemas.openxmlformats.org/officeDocument/2006/relationships/image" Target="../media/image90.svg"/><Relationship Id="rId4" Type="http://schemas.openxmlformats.org/officeDocument/2006/relationships/image" Target="../media/image89.png"/><Relationship Id="rId3" Type="http://schemas.openxmlformats.org/officeDocument/2006/relationships/image" Target="../media/image88.svg"/><Relationship Id="rId2" Type="http://schemas.openxmlformats.org/officeDocument/2006/relationships/image" Target="../media/image87.png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6.svg"/><Relationship Id="rId6" Type="http://schemas.openxmlformats.org/officeDocument/2006/relationships/image" Target="../media/image95.png"/><Relationship Id="rId5" Type="http://schemas.openxmlformats.org/officeDocument/2006/relationships/image" Target="../media/image94.svg"/><Relationship Id="rId4" Type="http://schemas.openxmlformats.org/officeDocument/2006/relationships/image" Target="../media/image93.png"/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3.svg"/><Relationship Id="rId6" Type="http://schemas.openxmlformats.org/officeDocument/2006/relationships/image" Target="../media/image72.png"/><Relationship Id="rId5" Type="http://schemas.openxmlformats.org/officeDocument/2006/relationships/image" Target="../media/image100.svg"/><Relationship Id="rId4" Type="http://schemas.openxmlformats.org/officeDocument/2006/relationships/image" Target="../media/image99.png"/><Relationship Id="rId3" Type="http://schemas.openxmlformats.org/officeDocument/2006/relationships/image" Target="../media/image98.svg"/><Relationship Id="rId2" Type="http://schemas.openxmlformats.org/officeDocument/2006/relationships/image" Target="../media/image97.png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2.svg"/><Relationship Id="rId2" Type="http://schemas.openxmlformats.org/officeDocument/2006/relationships/image" Target="../media/image101.png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7.jpeg"/><Relationship Id="rId5" Type="http://schemas.openxmlformats.org/officeDocument/2006/relationships/image" Target="../media/image106.svg"/><Relationship Id="rId4" Type="http://schemas.openxmlformats.org/officeDocument/2006/relationships/image" Target="../media/image105.png"/><Relationship Id="rId3" Type="http://schemas.openxmlformats.org/officeDocument/2006/relationships/image" Target="../media/image104.svg"/><Relationship Id="rId2" Type="http://schemas.openxmlformats.org/officeDocument/2006/relationships/image" Target="../media/image103.png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0.svg"/><Relationship Id="rId6" Type="http://schemas.openxmlformats.org/officeDocument/2006/relationships/image" Target="../media/image109.png"/><Relationship Id="rId5" Type="http://schemas.openxmlformats.org/officeDocument/2006/relationships/image" Target="../media/image18.svg"/><Relationship Id="rId4" Type="http://schemas.openxmlformats.org/officeDocument/2006/relationships/image" Target="../media/image69.png"/><Relationship Id="rId3" Type="http://schemas.openxmlformats.org/officeDocument/2006/relationships/image" Target="../media/image32.svg"/><Relationship Id="rId2" Type="http://schemas.openxmlformats.org/officeDocument/2006/relationships/image" Target="../media/image108.png"/><Relationship Id="rId1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4.svg"/><Relationship Id="rId6" Type="http://schemas.openxmlformats.org/officeDocument/2006/relationships/image" Target="../media/image113.png"/><Relationship Id="rId5" Type="http://schemas.openxmlformats.org/officeDocument/2006/relationships/image" Target="../media/image112.svg"/><Relationship Id="rId4" Type="http://schemas.openxmlformats.org/officeDocument/2006/relationships/image" Target="../media/image111.png"/><Relationship Id="rId3" Type="http://schemas.openxmlformats.org/officeDocument/2006/relationships/image" Target="../media/image18.svg"/><Relationship Id="rId2" Type="http://schemas.openxmlformats.org/officeDocument/2006/relationships/image" Target="../media/image69.png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1.svg"/><Relationship Id="rId6" Type="http://schemas.openxmlformats.org/officeDocument/2006/relationships/image" Target="../media/image120.png"/><Relationship Id="rId5" Type="http://schemas.openxmlformats.org/officeDocument/2006/relationships/image" Target="../media/image119.svg"/><Relationship Id="rId4" Type="http://schemas.openxmlformats.org/officeDocument/2006/relationships/image" Target="../media/image118.png"/><Relationship Id="rId3" Type="http://schemas.openxmlformats.org/officeDocument/2006/relationships/image" Target="../media/image117.svg"/><Relationship Id="rId2" Type="http://schemas.openxmlformats.org/officeDocument/2006/relationships/image" Target="../media/image116.png"/><Relationship Id="rId1" Type="http://schemas.openxmlformats.org/officeDocument/2006/relationships/image" Target="../media/image115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svg"/><Relationship Id="rId8" Type="http://schemas.openxmlformats.org/officeDocument/2006/relationships/image" Target="../media/image120.png"/><Relationship Id="rId7" Type="http://schemas.openxmlformats.org/officeDocument/2006/relationships/image" Target="../media/image127.svg"/><Relationship Id="rId6" Type="http://schemas.openxmlformats.org/officeDocument/2006/relationships/image" Target="../media/image126.png"/><Relationship Id="rId5" Type="http://schemas.openxmlformats.org/officeDocument/2006/relationships/image" Target="../media/image125.svg"/><Relationship Id="rId4" Type="http://schemas.openxmlformats.org/officeDocument/2006/relationships/image" Target="../media/image124.png"/><Relationship Id="rId3" Type="http://schemas.openxmlformats.org/officeDocument/2006/relationships/image" Target="../media/image34.svg"/><Relationship Id="rId2" Type="http://schemas.openxmlformats.org/officeDocument/2006/relationships/image" Target="../media/image123.png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22.jpe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4.svg"/><Relationship Id="rId3" Type="http://schemas.openxmlformats.org/officeDocument/2006/relationships/image" Target="../media/image123.png"/><Relationship Id="rId2" Type="http://schemas.openxmlformats.org/officeDocument/2006/relationships/hyperlink" Target="https://www.runoob.com/css3/css3-2dtransforms.html" TargetMode="External"/><Relationship Id="rId1" Type="http://schemas.openxmlformats.org/officeDocument/2006/relationships/image" Target="../media/image128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3.jpeg"/><Relationship Id="rId7" Type="http://schemas.openxmlformats.org/officeDocument/2006/relationships/image" Target="../media/image132.svg"/><Relationship Id="rId6" Type="http://schemas.openxmlformats.org/officeDocument/2006/relationships/image" Target="../media/image131.png"/><Relationship Id="rId5" Type="http://schemas.openxmlformats.org/officeDocument/2006/relationships/image" Target="../media/image130.svg"/><Relationship Id="rId4" Type="http://schemas.openxmlformats.org/officeDocument/2006/relationships/image" Target="../media/image129.png"/><Relationship Id="rId3" Type="http://schemas.openxmlformats.org/officeDocument/2006/relationships/image" Target="../media/image32.svg"/><Relationship Id="rId2" Type="http://schemas.openxmlformats.org/officeDocument/2006/relationships/image" Target="../media/image108.png"/><Relationship Id="rId10" Type="http://schemas.openxmlformats.org/officeDocument/2006/relationships/notesSlide" Target="../notesSlides/notesSlide26.xml"/><Relationship Id="rId1" Type="http://schemas.openxmlformats.org/officeDocument/2006/relationships/image" Target="../media/image122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6.svg"/><Relationship Id="rId6" Type="http://schemas.openxmlformats.org/officeDocument/2006/relationships/image" Target="../media/image136.png"/><Relationship Id="rId5" Type="http://schemas.openxmlformats.org/officeDocument/2006/relationships/image" Target="../media/image28.svg"/><Relationship Id="rId4" Type="http://schemas.openxmlformats.org/officeDocument/2006/relationships/image" Target="../media/image135.png"/><Relationship Id="rId3" Type="http://schemas.openxmlformats.org/officeDocument/2006/relationships/image" Target="../media/image20.svg"/><Relationship Id="rId2" Type="http://schemas.openxmlformats.org/officeDocument/2006/relationships/image" Target="../media/image134.png"/><Relationship Id="rId1" Type="http://schemas.openxmlformats.org/officeDocument/2006/relationships/image" Target="../media/image122.jpe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7.svg"/><Relationship Id="rId4" Type="http://schemas.openxmlformats.org/officeDocument/2006/relationships/image" Target="../media/image139.png"/><Relationship Id="rId3" Type="http://schemas.openxmlformats.org/officeDocument/2006/relationships/image" Target="../media/image138.svg"/><Relationship Id="rId2" Type="http://schemas.openxmlformats.org/officeDocument/2006/relationships/image" Target="../media/image137.png"/><Relationship Id="rId1" Type="http://schemas.openxmlformats.org/officeDocument/2006/relationships/image" Target="../media/image122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2.svg"/><Relationship Id="rId6" Type="http://schemas.openxmlformats.org/officeDocument/2006/relationships/image" Target="../media/image141.png"/><Relationship Id="rId5" Type="http://schemas.openxmlformats.org/officeDocument/2006/relationships/image" Target="../media/image28.svg"/><Relationship Id="rId4" Type="http://schemas.openxmlformats.org/officeDocument/2006/relationships/image" Target="../media/image135.png"/><Relationship Id="rId3" Type="http://schemas.openxmlformats.org/officeDocument/2006/relationships/image" Target="../media/image55.svg"/><Relationship Id="rId2" Type="http://schemas.openxmlformats.org/officeDocument/2006/relationships/image" Target="../media/image140.png"/><Relationship Id="rId1" Type="http://schemas.openxmlformats.org/officeDocument/2006/relationships/image" Target="../media/image122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svg"/><Relationship Id="rId8" Type="http://schemas.openxmlformats.org/officeDocument/2006/relationships/image" Target="../media/image136.png"/><Relationship Id="rId7" Type="http://schemas.openxmlformats.org/officeDocument/2006/relationships/image" Target="../media/image28.svg"/><Relationship Id="rId6" Type="http://schemas.openxmlformats.org/officeDocument/2006/relationships/image" Target="../media/image135.png"/><Relationship Id="rId5" Type="http://schemas.openxmlformats.org/officeDocument/2006/relationships/image" Target="../media/image146.svg"/><Relationship Id="rId4" Type="http://schemas.openxmlformats.org/officeDocument/2006/relationships/image" Target="../media/image145.png"/><Relationship Id="rId3" Type="http://schemas.openxmlformats.org/officeDocument/2006/relationships/image" Target="../media/image144.svg"/><Relationship Id="rId2" Type="http://schemas.openxmlformats.org/officeDocument/2006/relationships/image" Target="../media/image143.png"/><Relationship Id="rId11" Type="http://schemas.openxmlformats.org/officeDocument/2006/relationships/notesSlide" Target="../notesSlides/notesSlide3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22.jpe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8.svg"/><Relationship Id="rId3" Type="http://schemas.openxmlformats.org/officeDocument/2006/relationships/image" Target="../media/image147.png"/><Relationship Id="rId2" Type="http://schemas.openxmlformats.org/officeDocument/2006/relationships/hyperlink" Target="https://www.runoob.com/css3/css3-3dtransforms.html" TargetMode="External"/><Relationship Id="rId1" Type="http://schemas.openxmlformats.org/officeDocument/2006/relationships/image" Target="../media/image128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33.jpeg"/><Relationship Id="rId3" Type="http://schemas.openxmlformats.org/officeDocument/2006/relationships/image" Target="../media/image102.svg"/><Relationship Id="rId2" Type="http://schemas.openxmlformats.org/officeDocument/2006/relationships/image" Target="../media/image149.png"/><Relationship Id="rId1" Type="http://schemas.openxmlformats.org/officeDocument/2006/relationships/image" Target="../media/image122.jpe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4.svg"/><Relationship Id="rId6" Type="http://schemas.openxmlformats.org/officeDocument/2006/relationships/image" Target="../media/image123.png"/><Relationship Id="rId5" Type="http://schemas.openxmlformats.org/officeDocument/2006/relationships/image" Target="../media/image125.svg"/><Relationship Id="rId4" Type="http://schemas.openxmlformats.org/officeDocument/2006/relationships/image" Target="../media/image124.png"/><Relationship Id="rId3" Type="http://schemas.openxmlformats.org/officeDocument/2006/relationships/image" Target="../media/image7.svg"/><Relationship Id="rId2" Type="http://schemas.openxmlformats.org/officeDocument/2006/relationships/image" Target="../media/image152.png"/><Relationship Id="rId1" Type="http://schemas.openxmlformats.org/officeDocument/2006/relationships/image" Target="../media/image122.jpe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152.png"/><Relationship Id="rId7" Type="http://schemas.openxmlformats.org/officeDocument/2006/relationships/image" Target="../media/image156.svg"/><Relationship Id="rId6" Type="http://schemas.openxmlformats.org/officeDocument/2006/relationships/image" Target="../media/image155.png"/><Relationship Id="rId5" Type="http://schemas.openxmlformats.org/officeDocument/2006/relationships/image" Target="../media/image154.svg"/><Relationship Id="rId4" Type="http://schemas.openxmlformats.org/officeDocument/2006/relationships/image" Target="../media/image153.png"/><Relationship Id="rId3" Type="http://schemas.openxmlformats.org/officeDocument/2006/relationships/image" Target="../media/image125.svg"/><Relationship Id="rId2" Type="http://schemas.openxmlformats.org/officeDocument/2006/relationships/image" Target="../media/image124.png"/><Relationship Id="rId12" Type="http://schemas.openxmlformats.org/officeDocument/2006/relationships/notesSlide" Target="../notesSlides/notesSlide3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57.jpeg"/><Relationship Id="rId1" Type="http://schemas.openxmlformats.org/officeDocument/2006/relationships/image" Target="../media/image122.jpe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9.svg"/><Relationship Id="rId3" Type="http://schemas.openxmlformats.org/officeDocument/2006/relationships/image" Target="../media/image158.png"/><Relationship Id="rId2" Type="http://schemas.openxmlformats.org/officeDocument/2006/relationships/hyperlink" Target="https://www.runoob.com/css3/css3-transitions.html" TargetMode="External"/><Relationship Id="rId1" Type="http://schemas.openxmlformats.org/officeDocument/2006/relationships/image" Target="../media/image128.jpe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3.jpeg"/><Relationship Id="rId7" Type="http://schemas.openxmlformats.org/officeDocument/2006/relationships/image" Target="../media/image142.svg"/><Relationship Id="rId6" Type="http://schemas.openxmlformats.org/officeDocument/2006/relationships/image" Target="../media/image141.png"/><Relationship Id="rId5" Type="http://schemas.openxmlformats.org/officeDocument/2006/relationships/image" Target="../media/image163.svg"/><Relationship Id="rId4" Type="http://schemas.openxmlformats.org/officeDocument/2006/relationships/image" Target="../media/image162.png"/><Relationship Id="rId3" Type="http://schemas.openxmlformats.org/officeDocument/2006/relationships/image" Target="../media/image161.svg"/><Relationship Id="rId2" Type="http://schemas.openxmlformats.org/officeDocument/2006/relationships/image" Target="../media/image160.png"/><Relationship Id="rId10" Type="http://schemas.openxmlformats.org/officeDocument/2006/relationships/notesSlide" Target="../notesSlides/notesSlide36.xml"/><Relationship Id="rId1" Type="http://schemas.openxmlformats.org/officeDocument/2006/relationships/image" Target="../media/image122.jpe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4.svg"/><Relationship Id="rId6" Type="http://schemas.openxmlformats.org/officeDocument/2006/relationships/image" Target="../media/image143.png"/><Relationship Id="rId5" Type="http://schemas.openxmlformats.org/officeDocument/2006/relationships/image" Target="../media/image165.svg"/><Relationship Id="rId4" Type="http://schemas.openxmlformats.org/officeDocument/2006/relationships/image" Target="../media/image164.png"/><Relationship Id="rId3" Type="http://schemas.openxmlformats.org/officeDocument/2006/relationships/image" Target="../media/image7.svg"/><Relationship Id="rId2" Type="http://schemas.openxmlformats.org/officeDocument/2006/relationships/image" Target="../media/image152.png"/><Relationship Id="rId1" Type="http://schemas.openxmlformats.org/officeDocument/2006/relationships/image" Target="../media/image122.jpe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71.svg"/><Relationship Id="rId7" Type="http://schemas.openxmlformats.org/officeDocument/2006/relationships/image" Target="../media/image170.png"/><Relationship Id="rId6" Type="http://schemas.openxmlformats.org/officeDocument/2006/relationships/image" Target="../media/image169.svg"/><Relationship Id="rId5" Type="http://schemas.openxmlformats.org/officeDocument/2006/relationships/image" Target="../media/image168.png"/><Relationship Id="rId4" Type="http://schemas.openxmlformats.org/officeDocument/2006/relationships/hyperlink" Target="https://www.runoob.com/css3/css3-animations.html" TargetMode="External"/><Relationship Id="rId3" Type="http://schemas.openxmlformats.org/officeDocument/2006/relationships/image" Target="../media/image167.svg"/><Relationship Id="rId2" Type="http://schemas.openxmlformats.org/officeDocument/2006/relationships/image" Target="../media/image166.png"/><Relationship Id="rId10" Type="http://schemas.openxmlformats.org/officeDocument/2006/relationships/notesSlide" Target="../notesSlides/notesSlide38.xml"/><Relationship Id="rId1" Type="http://schemas.openxmlformats.org/officeDocument/2006/relationships/image" Target="../media/image128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3.jpeg"/><Relationship Id="rId5" Type="http://schemas.openxmlformats.org/officeDocument/2006/relationships/image" Target="../media/image130.svg"/><Relationship Id="rId4" Type="http://schemas.openxmlformats.org/officeDocument/2006/relationships/image" Target="../media/image129.png"/><Relationship Id="rId3" Type="http://schemas.openxmlformats.org/officeDocument/2006/relationships/image" Target="../media/image173.svg"/><Relationship Id="rId2" Type="http://schemas.openxmlformats.org/officeDocument/2006/relationships/image" Target="../media/image172.png"/><Relationship Id="rId1" Type="http://schemas.openxmlformats.org/officeDocument/2006/relationships/image" Target="../media/image122.jpe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4.svg"/><Relationship Id="rId2" Type="http://schemas.openxmlformats.org/officeDocument/2006/relationships/image" Target="../media/image143.png"/><Relationship Id="rId1" Type="http://schemas.openxmlformats.org/officeDocument/2006/relationships/image" Target="../media/image122.jpe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svg"/><Relationship Id="rId8" Type="http://schemas.openxmlformats.org/officeDocument/2006/relationships/image" Target="../media/image153.png"/><Relationship Id="rId7" Type="http://schemas.openxmlformats.org/officeDocument/2006/relationships/image" Target="../media/image138.svg"/><Relationship Id="rId6" Type="http://schemas.openxmlformats.org/officeDocument/2006/relationships/image" Target="../media/image137.png"/><Relationship Id="rId5" Type="http://schemas.openxmlformats.org/officeDocument/2006/relationships/image" Target="../media/image177.svg"/><Relationship Id="rId4" Type="http://schemas.openxmlformats.org/officeDocument/2006/relationships/image" Target="../media/image176.png"/><Relationship Id="rId3" Type="http://schemas.openxmlformats.org/officeDocument/2006/relationships/image" Target="../media/image175.svg"/><Relationship Id="rId2" Type="http://schemas.openxmlformats.org/officeDocument/2006/relationships/image" Target="../media/image174.png"/><Relationship Id="rId13" Type="http://schemas.openxmlformats.org/officeDocument/2006/relationships/notesSlide" Target="../notesSlides/notesSlide4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79.svg"/><Relationship Id="rId10" Type="http://schemas.openxmlformats.org/officeDocument/2006/relationships/image" Target="../media/image178.png"/><Relationship Id="rId1" Type="http://schemas.openxmlformats.org/officeDocument/2006/relationships/image" Target="../media/image122.jpe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3.svg"/><Relationship Id="rId8" Type="http://schemas.openxmlformats.org/officeDocument/2006/relationships/image" Target="../media/image182.png"/><Relationship Id="rId7" Type="http://schemas.openxmlformats.org/officeDocument/2006/relationships/image" Target="../media/image119.svg"/><Relationship Id="rId6" Type="http://schemas.openxmlformats.org/officeDocument/2006/relationships/image" Target="../media/image118.png"/><Relationship Id="rId5" Type="http://schemas.openxmlformats.org/officeDocument/2006/relationships/image" Target="../media/image169.svg"/><Relationship Id="rId4" Type="http://schemas.openxmlformats.org/officeDocument/2006/relationships/image" Target="../media/image168.png"/><Relationship Id="rId3" Type="http://schemas.openxmlformats.org/officeDocument/2006/relationships/image" Target="../media/image181.svg"/><Relationship Id="rId2" Type="http://schemas.openxmlformats.org/officeDocument/2006/relationships/image" Target="../media/image180.png"/><Relationship Id="rId13" Type="http://schemas.openxmlformats.org/officeDocument/2006/relationships/notesSlide" Target="../notesSlides/notesSlide4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85.svg"/><Relationship Id="rId10" Type="http://schemas.openxmlformats.org/officeDocument/2006/relationships/image" Target="../media/image184.png"/><Relationship Id="rId1" Type="http://schemas.openxmlformats.org/officeDocument/2006/relationships/image" Target="../media/image1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3">
                  <a:alpha val="94000"/>
                </a:srgbClr>
              </a:gs>
              <a:gs pos="100000">
                <a:srgbClr val="0F1E32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889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现代布局实战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1778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spc="100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 弹性布局 &amp; Grid 网格系统 核心解析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968500" y="3365500"/>
            <a:ext cx="889000" cy="889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3556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9000" y="438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 一维布局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解决组件对齐与空间分布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构建灵活响应式组件</a:t>
            </a:r>
            <a:endParaRPr lang="en-US" sz="1300" b="0" i="0" u="none" strike="noStrike">
              <a:solidFill>
                <a:srgbClr val="CBD5E1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3048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651500" y="3365500"/>
            <a:ext cx="889000" cy="889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3556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572000" y="438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 二维网格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复杂页面整体规划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精确控制行列轨道尺寸</a:t>
            </a:r>
            <a:endParaRPr lang="en-US" sz="1300" b="0" i="0" u="none" strike="noStrike">
              <a:solidFill>
                <a:srgbClr val="CBD5E1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3048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334500" y="3365500"/>
            <a:ext cx="889000" cy="889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3556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255000" y="438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实战场景技巧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布局嵌套与浏览器兼容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告别传统浮动布局的痛点</a:t>
            </a:r>
            <a:endParaRPr lang="en-US" sz="1300" b="0" i="0" u="none" strike="noStrike">
              <a:solidFill>
                <a:srgbClr val="CBD5E1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400" b="0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25F4E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460500" y="2159000"/>
            <a:ext cx="1143000" cy="1143000"/>
          </a:xfrm>
          <a:prstGeom prst="ellipse">
            <a:avLst/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4500" y="2413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89000" y="349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START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400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告别布局困境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拥抱现代CSS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953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回顾传统痛点，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开启布局新范式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671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25F4E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165600" y="2159000"/>
            <a:ext cx="1143000" cy="1143000"/>
          </a:xfrm>
          <a:prstGeom prst="ellipse">
            <a:avLst/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9600" y="24130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594100" y="349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FLEX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594100" y="400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Flex弹性布局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(Flexbox) 详解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57600" y="4953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一维布局神器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灵活排列与对齐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1722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25F4E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870700" y="2159000"/>
            <a:ext cx="1143000" cy="1143000"/>
          </a:xfrm>
          <a:prstGeom prst="ellipse">
            <a:avLst/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24700" y="24130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299200" y="349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GRID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99200" y="400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Grid网格布局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(Grid Layout) 详解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62700" y="4953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二维网格系统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精准控制行列结构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25F4E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88500" y="2159000"/>
            <a:ext cx="1143000" cy="1143000"/>
          </a:xfrm>
          <a:prstGeom prst="ellipse">
            <a:avLst/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2500" y="2413000"/>
            <a:ext cx="635000" cy="635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017000" y="349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PRACTICE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017000" y="400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 vs. Grid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对比与最佳实践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80500" y="4953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场景化选型策略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发挥各自优势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397000"/>
            <a:ext cx="10160000" cy="4318000"/>
          </a:xfrm>
          <a:prstGeom prst="roundRect">
            <a:avLst>
              <a:gd name="adj" fmla="val 588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  <a:effectLst>
            <a:outerShdw blurRad="304800" dist="152400" dir="2700000" algn="tl" rotWithShape="0">
              <a:srgbClr val="1F2937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26035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2984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开篇：告别布局困境，拥抱现代CSS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3937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从传统 float 与 position 的繁琐束缚中解脱</a:t>
            </a:r>
            <a:b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 Flexbox 弹性布局与 Grid 网格布局的高效时代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495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传统布局的挑战与痛点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1016000" cy="508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cap="flat" cmpd="sng">
            <a:solidFill>
              <a:srgbClr val="0BDB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24765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485900" y="2159000"/>
            <a:ext cx="1016000" cy="1016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89100" y="23622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89000" y="3302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垂直居中的噩梦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952500" y="3810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实现元素垂直居中往往需要复杂的定位和负边距组合，代码冗余且不易维护。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3492500" y="1778000"/>
            <a:ext cx="24765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216400" y="2159000"/>
            <a:ext cx="1016000" cy="1016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19600" y="23622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3619500" y="3302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响应式布局复杂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3683000" y="3810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float 布局需手动计算宽度和处理清除浮动，实现响应式换行非常繁琐。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223000" y="1778000"/>
            <a:ext cx="24765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6946900" y="2159000"/>
            <a:ext cx="1016000" cy="1016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50100" y="23622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6350000" y="3302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元素等高的难题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6413500" y="3810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多栏布局中，不同高度的子元素难以自动对齐，往往需要使用特殊技巧或 Hack。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8953500" y="1778000"/>
            <a:ext cx="24765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9677400" y="2159000"/>
            <a:ext cx="1016000" cy="1016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880600" y="2362200"/>
            <a:ext cx="609600" cy="6096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9080500" y="3302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代码的脆弱性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9144000" y="3810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布局结构与样式高度耦合，调整一个元素的尺寸或位置可能引发整个布局崩溃。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588000"/>
            <a:ext cx="10668000" cy="711200"/>
          </a:xfrm>
          <a:prstGeom prst="roundRect">
            <a:avLst>
              <a:gd name="adj" fmla="val 35714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56896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总结：传统布局方式代码冗余、维护成本高且易出兼容性问题，严重影响开发效率。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4274820" cy="6813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165"/>
          </a:p>
          <a:p>
            <a:pPr algn="l"/>
            <a:r>
              <a:rPr sz="2665" b="1">
                <a:solidFill>
                  <a:srgbClr val="2563EB"/>
                </a:solidFill>
                <a:latin typeface="微软雅黑" panose="020B0503020204020204" charset="-122"/>
              </a:rPr>
              <a:t>痛点对比：垂直居中的实现</a:t>
            </a:r>
            <a:endParaRPr sz="2665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3410585" cy="42614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165"/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EF4444"/>
                </a:solidFill>
                <a:latin typeface="微软雅黑" panose="020B0503020204020204" charset="-122"/>
              </a:rPr>
              <a:t>❌ 老式方法：定位 + 负边距</a:t>
            </a:r>
            <a:endParaRPr sz="2000" b="1">
              <a:solidFill>
                <a:srgbClr val="EF4444"/>
              </a:solidFill>
              <a:latin typeface="微软雅黑" panose="020B0503020204020204" charset="-122"/>
            </a:endParaRPr>
          </a:p>
          <a:p>
            <a:pPr>
              <a:spcAft>
                <a:spcPts val="2000"/>
              </a:spcAft>
              <a:defRPr sz="1400">
                <a:solidFill>
                  <a:srgbClr val="333333"/>
                </a:solidFill>
                <a:latin typeface="Consolas" panose="020B0609020204030204"/>
              </a:defRPr>
            </a:pPr>
            <a:r>
              <a:rPr sz="1165"/>
              <a:t>.parent {</a:t>
            </a:r>
            <a:br>
              <a:rPr sz="1165"/>
            </a:br>
            <a:r>
              <a:rPr sz="1165"/>
              <a:t>  position: relative;</a:t>
            </a:r>
            <a:br>
              <a:rPr sz="1165"/>
            </a:br>
            <a:r>
              <a:rPr sz="1165"/>
              <a:t>}</a:t>
            </a:r>
            <a:br>
              <a:rPr sz="1165"/>
            </a:br>
            <a:r>
              <a:rPr sz="1165"/>
              <a:t>.child {</a:t>
            </a:r>
            <a:br>
              <a:rPr sz="1165"/>
            </a:br>
            <a:r>
              <a:rPr sz="1165"/>
              <a:t>  position: absolute;</a:t>
            </a:r>
            <a:br>
              <a:rPr sz="1165"/>
            </a:br>
            <a:r>
              <a:rPr sz="1165"/>
              <a:t>  top: 50%;</a:t>
            </a:r>
            <a:br>
              <a:rPr sz="1165"/>
            </a:br>
            <a:r>
              <a:rPr sz="1165"/>
              <a:t>  left: 50%;</a:t>
            </a:r>
            <a:br>
              <a:rPr sz="1165"/>
            </a:br>
            <a:r>
              <a:rPr sz="1165"/>
              <a:t>  margin-top: -30px;</a:t>
            </a:r>
            <a:br>
              <a:rPr sz="1165"/>
            </a:br>
            <a:r>
              <a:rPr sz="1165"/>
              <a:t>  margin-left: -50px;</a:t>
            </a:r>
            <a:br>
              <a:rPr sz="1165"/>
            </a:br>
            <a:r>
              <a:rPr sz="1165"/>
              <a:t>}</a:t>
            </a:r>
            <a:endParaRPr sz="1165"/>
          </a:p>
          <a:p>
            <a:r>
              <a:rPr sz="1500" b="1">
                <a:solidFill>
                  <a:srgbClr val="EF4444"/>
                </a:solidFill>
                <a:latin typeface="微软雅黑" panose="020B0503020204020204" charset="-122"/>
              </a:rPr>
              <a:t>致命缺点：</a:t>
            </a:r>
            <a:endParaRPr sz="1500" b="1">
              <a:solidFill>
                <a:srgbClr val="EF4444"/>
              </a:solidFill>
              <a:latin typeface="微软雅黑" panose="020B0503020204020204" charset="-122"/>
            </a:endParaRPr>
          </a:p>
          <a:p>
            <a:pPr lvl="1">
              <a:spcAft>
                <a:spcPts val="1000"/>
              </a:spcAft>
            </a:pPr>
            <a:r>
              <a:rPr sz="1335" b="0">
                <a:solidFill>
                  <a:srgbClr val="1F2937"/>
                </a:solidFill>
                <a:latin typeface="微软雅黑" panose="020B0503020204020204" charset="-122"/>
              </a:rPr>
              <a:t>• 必须知道子元素宽高</a:t>
            </a:r>
            <a:endParaRPr sz="1335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lvl="1">
              <a:spcAft>
                <a:spcPts val="1000"/>
              </a:spcAft>
            </a:pPr>
            <a:r>
              <a:rPr sz="1335" b="0">
                <a:solidFill>
                  <a:srgbClr val="1F2937"/>
                </a:solidFill>
                <a:latin typeface="微软雅黑" panose="020B0503020204020204" charset="-122"/>
              </a:rPr>
              <a:t>• 代码冗余，逻辑绕弯</a:t>
            </a:r>
            <a:endParaRPr sz="1335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lvl="1">
              <a:spcAft>
                <a:spcPts val="1000"/>
              </a:spcAft>
            </a:pPr>
            <a:r>
              <a:rPr sz="1335" b="0">
                <a:solidFill>
                  <a:srgbClr val="1F2937"/>
                </a:solidFill>
                <a:latin typeface="微软雅黑" panose="020B0503020204020204" charset="-122"/>
              </a:rPr>
              <a:t>• 内容变化就失效</a:t>
            </a:r>
            <a:endParaRPr sz="1335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lvl="1">
              <a:spcAft>
                <a:spcPts val="1000"/>
              </a:spcAft>
            </a:pPr>
            <a:r>
              <a:rPr sz="1335" b="0">
                <a:solidFill>
                  <a:srgbClr val="1F2937"/>
                </a:solidFill>
                <a:latin typeface="微软雅黑" panose="020B0503020204020204" charset="-122"/>
              </a:rPr>
              <a:t>• 不易维护，扩展性差</a:t>
            </a:r>
            <a:endParaRPr sz="1335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0" y="1524000"/>
            <a:ext cx="2889250" cy="3364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165"/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22C55E"/>
                </a:solidFill>
                <a:latin typeface="微软雅黑" panose="020B0503020204020204" charset="-122"/>
              </a:rPr>
              <a:t>✅ 现代方法：Flex 居中</a:t>
            </a:r>
            <a:endParaRPr sz="2000" b="1">
              <a:solidFill>
                <a:srgbClr val="22C55E"/>
              </a:solidFill>
              <a:latin typeface="微软雅黑" panose="020B0503020204020204" charset="-122"/>
            </a:endParaRPr>
          </a:p>
          <a:p>
            <a:pPr>
              <a:spcAft>
                <a:spcPts val="2000"/>
              </a:spcAft>
              <a:defRPr sz="1400">
                <a:solidFill>
                  <a:srgbClr val="333333"/>
                </a:solidFill>
                <a:latin typeface="Consolas" panose="020B0609020204030204"/>
              </a:defRPr>
            </a:pPr>
            <a:r>
              <a:rPr sz="1165"/>
              <a:t>.parent {</a:t>
            </a:r>
            <a:br>
              <a:rPr sz="1165"/>
            </a:br>
            <a:r>
              <a:rPr sz="1165"/>
              <a:t>  display: flex;</a:t>
            </a:r>
            <a:br>
              <a:rPr sz="1165"/>
            </a:br>
            <a:r>
              <a:rPr sz="1165"/>
              <a:t>  justify-content: center;</a:t>
            </a:r>
            <a:br>
              <a:rPr sz="1165"/>
            </a:br>
            <a:r>
              <a:rPr sz="1165"/>
              <a:t>  align-items: center;</a:t>
            </a:r>
            <a:br>
              <a:rPr sz="1165"/>
            </a:br>
            <a:r>
              <a:rPr sz="1165"/>
              <a:t>}</a:t>
            </a:r>
            <a:endParaRPr sz="1165"/>
          </a:p>
          <a:p>
            <a:r>
              <a:rPr sz="1500" b="1">
                <a:solidFill>
                  <a:srgbClr val="22C55E"/>
                </a:solidFill>
                <a:latin typeface="微软雅黑" panose="020B0503020204020204" charset="-122"/>
              </a:rPr>
              <a:t>巨大优势：</a:t>
            </a:r>
            <a:endParaRPr sz="1500" b="1">
              <a:solidFill>
                <a:srgbClr val="22C55E"/>
              </a:solidFill>
              <a:latin typeface="微软雅黑" panose="020B0503020204020204" charset="-122"/>
            </a:endParaRPr>
          </a:p>
          <a:p>
            <a:pPr lvl="1">
              <a:spcAft>
                <a:spcPts val="1000"/>
              </a:spcAft>
            </a:pPr>
            <a:r>
              <a:rPr sz="1335" b="0">
                <a:solidFill>
                  <a:srgbClr val="1F2937"/>
                </a:solidFill>
                <a:latin typeface="微软雅黑" panose="020B0503020204020204" charset="-122"/>
              </a:rPr>
              <a:t>• 无需知道宽高</a:t>
            </a:r>
            <a:endParaRPr sz="1335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lvl="1">
              <a:spcAft>
                <a:spcPts val="1000"/>
              </a:spcAft>
            </a:pPr>
            <a:r>
              <a:rPr sz="1335" b="0">
                <a:solidFill>
                  <a:srgbClr val="1F2937"/>
                </a:solidFill>
                <a:latin typeface="微软雅黑" panose="020B0503020204020204" charset="-122"/>
              </a:rPr>
              <a:t>• 代码极简，一目了然</a:t>
            </a:r>
            <a:endParaRPr sz="1335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lvl="1">
              <a:spcAft>
                <a:spcPts val="1000"/>
              </a:spcAft>
            </a:pPr>
            <a:r>
              <a:rPr sz="1335" b="0">
                <a:solidFill>
                  <a:srgbClr val="1F2937"/>
                </a:solidFill>
                <a:latin typeface="微软雅黑" panose="020B0503020204020204" charset="-122"/>
              </a:rPr>
              <a:t>• 内容自适应，永远居中</a:t>
            </a:r>
            <a:endParaRPr sz="1335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lvl="1">
              <a:spcAft>
                <a:spcPts val="1000"/>
              </a:spcAft>
            </a:pPr>
            <a:r>
              <a:rPr sz="1335" b="0">
                <a:solidFill>
                  <a:srgbClr val="1F2937"/>
                </a:solidFill>
                <a:latin typeface="微软雅黑" panose="020B0503020204020204" charset="-122"/>
              </a:rPr>
              <a:t>• 易维护，扩展性强</a:t>
            </a:r>
            <a:endParaRPr sz="1335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现代布局的曙光：Flexbox 与 Grid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954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告别传统布局痛点，掌握一维与二维布局的黄金组合，构建高效灵活的现代 Web 界面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207000" cy="3429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  <a:effectLst>
            <a:outerShdw blurRad="317500" dist="127000" dir="2700000" algn="tl" rotWithShape="0">
              <a:srgbClr val="25F4E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413000"/>
            <a:ext cx="812800" cy="8128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6200" y="26162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159000" y="2476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 弹性盒布局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159000" y="2984500"/>
            <a:ext cx="1651000" cy="304800"/>
          </a:xfrm>
          <a:prstGeom prst="roundRect">
            <a:avLst>
              <a:gd name="adj" fmla="val 41666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一维布局 · 组件级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43000" y="3556000"/>
            <a:ext cx="444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专注于单行或单列的空间分配与对齐。无论是导航栏、按钮组还是组件内部元素排列，它都能轻松应对，让元素自适应剩余空间，告别浮动布局的困扰。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032000"/>
            <a:ext cx="5207000" cy="3429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  <a:effectLst>
            <a:outerShdw blurRad="317500" dist="127000" dir="2700000" algn="tl" rotWithShape="0">
              <a:srgbClr val="25F4E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2413000"/>
            <a:ext cx="812800" cy="8128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7200" y="26162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0" y="2476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 网格布局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0" y="2984500"/>
            <a:ext cx="1651000" cy="304800"/>
          </a:xfrm>
          <a:prstGeom prst="roundRect">
            <a:avLst>
              <a:gd name="adj" fmla="val 41666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二维布局 · 页面级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3556000"/>
            <a:ext cx="444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同时掌控行与列的二维布局系统。专为复杂页面结构设计，像表格一样精确规划区域，但拥有更高的灵活性与响应式能力，是现代页面骨架构建的最佳选择。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778500"/>
            <a:ext cx="10668000" cy="584200"/>
          </a:xfrm>
          <a:prstGeom prst="roundRect">
            <a:avLst>
              <a:gd name="adj" fmla="val 21739"/>
            </a:avLst>
          </a:prstGeom>
          <a:gradFill rotWithShape="1">
            <a:gsLst>
              <a:gs pos="0">
                <a:srgbClr val="25F4EE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5F4EE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核心洞察：Flexbox 管内部细节，Grid 控整体架构，两者结合即是现代布局的终极方案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662" t="2631" r="2662" b="26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5F4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270000"/>
            <a:ext cx="10160000" cy="4318000"/>
          </a:xfrm>
          <a:prstGeom prst="roundRect">
            <a:avLst>
              <a:gd name="adj" fmla="val 5882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  <a:effectLst>
            <a:outerShdw blurRad="304800" dist="152400" dir="2700000" algn="tl" rotWithShape="0">
              <a:srgbClr val="1F2937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17145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66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191000" y="3365500"/>
            <a:ext cx="3810000" cy="50800"/>
          </a:xfrm>
          <a:prstGeom prst="roundRect">
            <a:avLst>
              <a:gd name="adj" fmla="val 5000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 弹性布局 (Flexbox) 详解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572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现代前端响应式设计的核心与灵魂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7142" t="7142" r="7142" b="71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 核心概念解析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cap="flat" cmpd="sng">
            <a:solidFill>
              <a:srgbClr val="0BDB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1841500"/>
            <a:ext cx="711200" cy="711200"/>
          </a:xfrm>
          <a:prstGeom prst="roundRect">
            <a:avLst>
              <a:gd name="adj" fmla="val 26785"/>
            </a:avLst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" y="19939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41500" y="1778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 Container (弹性容器)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应用了 display: flex 的父元素，是布局的基础容器。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762000" y="2857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952500" y="3048000"/>
            <a:ext cx="711200" cy="711200"/>
          </a:xfrm>
          <a:prstGeom prst="roundRect">
            <a:avLst>
              <a:gd name="adj" fmla="val 26785"/>
            </a:avLst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900" y="32004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841500" y="29845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 Item (弹性项目)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弹性容器的直接子元素，自动获得弹性布局能力。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762000" y="4064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952500" y="4254500"/>
            <a:ext cx="711200" cy="711200"/>
          </a:xfrm>
          <a:prstGeom prst="roundRect">
            <a:avLst>
              <a:gd name="adj" fmla="val 26785"/>
            </a:avLst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4900" y="4406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1841500" y="4191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 Axis (主轴)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项目排列的主要轴线，方向由 flex-direction 决定。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762000" y="5270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952500" y="5461000"/>
            <a:ext cx="711200" cy="711200"/>
          </a:xfrm>
          <a:prstGeom prst="roundRect">
            <a:avLst>
              <a:gd name="adj" fmla="val 26785"/>
            </a:avLst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4900" y="56134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1"/>
            </p:custDataLst>
          </p:nvPr>
        </p:nvSpPr>
        <p:spPr>
          <a:xfrm>
            <a:off x="1841500" y="53975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Cross Axis (交叉轴)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始终与主轴垂直的轴线，用于控制项目的行/列对齐。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>
            <a:hlinkClick r:id="rId22" action="ppaction://hlinkfile"/>
          </p:cNvPr>
          <p:cNvPicPr>
            <a:picLocks noChangeAspect="1"/>
          </p:cNvPicPr>
          <p:nvPr/>
        </p:nvPicPr>
        <p:blipFill>
          <a:blip r:embed="rId23"/>
          <a:srcRect l="4545" t="5284" r="4545" b="5284"/>
          <a:stretch>
            <a:fillRect/>
          </a:stretch>
        </p:blipFill>
        <p:spPr>
          <a:xfrm>
            <a:off x="6477000" y="1651000"/>
            <a:ext cx="5080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solidFill>
              <a:srgbClr val="25F4EE">
                <a:alpha val="4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3" name="AutoShape 23"/>
          <p:cNvSpPr/>
          <p:nvPr/>
        </p:nvSpPr>
        <p:spPr>
          <a:xfrm>
            <a:off x="6477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4826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5E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核心口诀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134E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父设 Flex 变容器，子为项目轴上行；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134E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主轴决定排列向，交叉垂直来对齐。</a:t>
            </a:r>
            <a:endParaRPr lang="en-US" sz="1500" b="0" i="0" u="none" strike="noStrike">
              <a:solidFill>
                <a:srgbClr val="134E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 布局核心：flex-direction 属性详解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4191000"/>
          </a:xfrm>
          <a:prstGeom prst="roundRect">
            <a:avLst>
              <a:gd name="adj" fmla="val 303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905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代码演示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413000"/>
            <a:ext cx="4445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.container {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display:</a:t>
            </a:r>
            <a:r>
              <a:rPr lang="en-US" sz="1400" b="1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flex</a:t>
            </a: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主轴方向控制 */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flex-direction:</a:t>
            </a:r>
            <a:r>
              <a:rPr lang="en-US" sz="1400" b="1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row</a:t>
            </a: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row | row-reverse | column | column-reverse */</a:t>
            </a:r>
            <a:endParaRPr lang="en-US" sz="14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651000"/>
            <a:ext cx="5334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18161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1752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row (默认值)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主轴水平，项目从左向右排列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2730500"/>
            <a:ext cx="5334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8956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28321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row-reverse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主轴水平，项目从右向左排列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3810000"/>
            <a:ext cx="5334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39751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366000" y="3911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column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主轴垂直，项目从上向下排列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4889500"/>
            <a:ext cx="5334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50546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66000" y="49911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column-reverse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主轴垂直，项目从下向上排列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685800"/>
            <a:ext cx="76200" cy="406400"/>
          </a:xfrm>
          <a:prstGeom prst="roundRect">
            <a:avLst>
              <a:gd name="adj" fmla="val 33333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12800" y="635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Flex 布局：justify-content 属性解析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核心作用：定义 Flex 项目在主轴（Main Axis）上的对齐方式，控制空白空间的分配。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095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2225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.container {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display:</a:t>
            </a:r>
            <a:r>
              <a:rPr lang="en-US" sz="1400" b="1" i="0" u="none" strike="noStrike">
                <a:solidFill>
                  <a:srgbClr val="25F4EE"/>
                </a:solidFill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r>
              <a:rPr lang="en-US" sz="14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-US" sz="14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/* 启用 Flex 布局 */</a:t>
            </a:r>
            <a:endParaRPr lang="en-US" sz="14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justify-content:</a:t>
            </a:r>
            <a:r>
              <a:rPr lang="en-US" sz="1400" b="1" i="0" u="none" strike="noStrike">
                <a:solidFill>
                  <a:srgbClr val="25F4EE"/>
                </a:solidFill>
                <a:latin typeface="Roboto Mono"/>
                <a:ea typeface="Roboto Mono"/>
                <a:cs typeface="Roboto Mono"/>
                <a:sym typeface="Roboto Mono"/>
              </a:rPr>
              <a:t>space-between</a:t>
            </a:r>
            <a:r>
              <a:rPr lang="en-US" sz="14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-US" sz="14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/* 主轴对齐方式 */</a:t>
            </a:r>
            <a:endParaRPr lang="en-US" sz="1400" b="0" i="0" u="none" strike="noStrike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400" b="0" i="0" u="none" strike="noStrike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33782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064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52600" y="4000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flex-start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项目紧靠主轴起点对齐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394200" y="3810000"/>
            <a:ext cx="33782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4064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84800" y="4000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center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项目在主轴上居中对齐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26400" y="3810000"/>
            <a:ext cx="33782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4064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4000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flex-end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项目紧靠主轴终点对齐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143500"/>
            <a:ext cx="33782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397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52600" y="5334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space-between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两端对齐，项目间间距均分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394200" y="5143500"/>
            <a:ext cx="33782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48200" y="53975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384800" y="5334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space-around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每个项目两侧的间距相等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026400" y="5143500"/>
            <a:ext cx="33782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80400" y="53975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017000" y="5334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space-evenly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项目间及与边缘间距完全相等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 布局核心：align-items 属性详解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 Flex 项目在交叉轴（Cross Axis）上的对齐方式，是实现垂直居中的关键属性。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685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159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.container {</a:t>
            </a:r>
            <a:r>
              <a:rPr lang="en-US" sz="1400" b="1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display: flex;</a:t>
            </a: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height: 200px; /* 需设定高度 */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核心代码：实现垂直居中 */</a:t>
            </a:r>
            <a:endParaRPr lang="en-US" sz="14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align-items: center;</a:t>
            </a: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4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19812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8600" y="4191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25500" y="4826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stretch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拉伸填充容器高度（默认值）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895600" y="3937000"/>
            <a:ext cx="19812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2200" y="4191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959100" y="4826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flex-start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紧靠交叉轴起点（顶部）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29200" y="3937000"/>
            <a:ext cx="19812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65800" y="4191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92700" y="4826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flex-end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紧靠交叉轴终点（底部）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162800" y="3937000"/>
            <a:ext cx="19812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9400" y="4191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26300" y="4826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center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交叉轴上绝对居中（最常用）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296400" y="3937000"/>
            <a:ext cx="19812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33000" y="4191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359900" y="4826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baseline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按文字基线对齐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25F4EE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6045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核心技巧：父容器设置 display: flex; + align-items: center; 即可实现子元素垂直居中。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Flexbox 核心：flex 属性解析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905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语法与常用写法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413000"/>
            <a:ext cx="4445000" cy="2540000"/>
          </a:xfrm>
          <a:prstGeom prst="roundRect">
            <a:avLst>
              <a:gd name="adj" fmla="val 250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2603500"/>
            <a:ext cx="406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/* 简写语法：grow | shrink | basis */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.item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flex:</a:t>
            </a:r>
            <a:r>
              <a:rPr lang="en-US" sz="1400" b="1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/* 等价于 1 1 0% */</a:t>
            </a:r>
            <a:endParaRPr lang="en-US" sz="14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79500" y="5143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注：flex:1 是自适应布局最常用的写法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19304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18034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flex-grow (放大比例)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定义项目如何瓜分容器的“剩余空间”，默认0（不放大）。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857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1369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30099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flex-shrink (缩小比例)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空间不足时项目的收缩能力，默认1（允许收缩）。设为0则不收缩。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3434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42164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flex-basis (初始大小)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分配剩余空间前项目的默认大小，默认auto（由内容决定）。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5270500"/>
            <a:ext cx="5207000" cy="444500"/>
          </a:xfrm>
          <a:prstGeom prst="roundRect">
            <a:avLst>
              <a:gd name="adj" fmla="val 28571"/>
            </a:avLst>
          </a:prstGeom>
          <a:solidFill>
            <a:srgbClr val="25F4EE">
              <a:alpha val="20000"/>
            </a:srgbClr>
          </a:solidFill>
          <a:ln w="12700" cap="flat" cmpd="sng">
            <a:solidFill>
              <a:srgbClr val="25F4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53086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核心：flex:1 意味着项目会平分所有可用的剩余空间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0" y="6540500"/>
            <a:ext cx="12192000" cy="3175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 实战案例：一行代码搞定“完美居中”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25F4EE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5F4E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0500" y="2032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292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 (Container)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内部项目自动水平垂直双居中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905000" y="3937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居中的项目 (Item)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0" y="1651000"/>
            <a:ext cx="5334000" cy="3556000"/>
          </a:xfrm>
          <a:prstGeom prst="roundRect">
            <a:avLst>
              <a:gd name="adj" fmla="val 3571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193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 CSS 代码实现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5400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.center-container {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width: 300px; height: 200px;</a:t>
            </a:r>
            <a:endParaRPr lang="en-US" sz="13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border: 1px solid #ccc;</a:t>
            </a:r>
            <a:endParaRPr lang="en-US" sz="13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display: flex;</a:t>
            </a: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开启Flex布局 */</a:t>
            </a:r>
            <a:endParaRPr lang="en-US" sz="12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justify-content: center;</a:t>
            </a: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水平居中 */</a:t>
            </a:r>
            <a:endParaRPr lang="en-US" sz="12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align-items: center;</a:t>
            </a: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垂直居中 */</a:t>
            </a:r>
            <a:endParaRPr lang="en-US" sz="12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588000"/>
            <a:ext cx="10668000" cy="711200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25F4EE">
                  <a:alpha val="10000"/>
                </a:srgbClr>
              </a:gs>
              <a:gs pos="100000">
                <a:srgbClr val="25F4EE">
                  <a:alpha val="25000"/>
                </a:srgbClr>
              </a:gs>
            </a:gsLst>
            <a:lin ang="0"/>
          </a:gra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核心逻辑：Flex 开启后，配合主轴与交叉轴对齐属性，实现任意元素的绝对居中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03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200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2730500"/>
            <a:ext cx="762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31115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Grid网格布局 (Grid Layout) 详解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191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从一维 Flex 进阶到二维 Grid，像搭积木一样精确构建复杂页面结构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931" r="3846" b="37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 核心概念解析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cap="flat" cmpd="sng">
            <a:solidFill>
              <a:srgbClr val="1BB9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921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19685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网格容器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应用了 display: grid 的父元素，是所有网格项的直接父级。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73500" y="1778000"/>
            <a:ext cx="2921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7500" y="2032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762500" y="19685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网格容器的直接子元素，位于容器内部的内容块。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302000"/>
            <a:ext cx="2921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556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34925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划分网格的分界线，可以是垂直列线或水平行线。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873500" y="3302000"/>
            <a:ext cx="2921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7500" y="3556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762500" y="34925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网格轨道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两条相邻网格线之间的空间，即网格的“行”或“列”。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826000"/>
            <a:ext cx="2921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080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0165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网格单元格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行和列交叉形成的最小单位，如同表格中的单元格。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873500" y="4826000"/>
            <a:ext cx="2921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27500" y="50800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762500" y="50165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网格区域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由任意数量网格单元格组成的矩形区域，用于布局定位。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24">
            <a:hlinkClick r:id="rId14" action="ppaction://hlinkfile"/>
          </p:cNvPr>
          <p:cNvPicPr>
            <a:picLocks noChangeAspect="1"/>
          </p:cNvPicPr>
          <p:nvPr/>
        </p:nvPicPr>
        <p:blipFill>
          <a:blip r:embed="rId15"/>
          <a:srcRect l="8536" r="8536"/>
          <a:stretch>
            <a:fillRect/>
          </a:stretch>
        </p:blipFill>
        <p:spPr>
          <a:xfrm>
            <a:off x="7112000" y="1778000"/>
            <a:ext cx="4318000" cy="2540000"/>
          </a:xfrm>
          <a:prstGeom prst="roundRect">
            <a:avLst>
              <a:gd name="adj" fmla="val 6000"/>
            </a:avLst>
          </a:prstGeom>
          <a:noFill/>
          <a:ln w="25400" cap="flat" cmpd="sng">
            <a:solidFill>
              <a:srgbClr val="34D399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25" name="AutoShape 25"/>
          <p:cNvSpPr/>
          <p:nvPr/>
        </p:nvSpPr>
        <p:spPr>
          <a:xfrm>
            <a:off x="7112000" y="4508500"/>
            <a:ext cx="4318000" cy="762000"/>
          </a:xfrm>
          <a:prstGeom prst="roundRect">
            <a:avLst>
              <a:gd name="adj" fmla="val 16666"/>
            </a:avLst>
          </a:prstGeom>
          <a:solidFill>
            <a:srgbClr val="34D399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图示：通过网格线划分出的单元格与区域，直观展示二维布局的结构。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5461000"/>
            <a:ext cx="4318000" cy="558800"/>
          </a:xfrm>
          <a:prstGeom prst="roundRect">
            <a:avLst>
              <a:gd name="adj" fmla="val 45454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34D399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核心：二维布局的基石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11200"/>
            <a:ext cx="76200" cy="4064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cap="flat" cmpd="sng">
            <a:solidFill>
              <a:srgbClr val="1BB9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635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 核心：grid-template-columns 列定义属性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270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用于定义网格容器中列的数量、宽度及轨道大小，是实现网格布局的关键。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032000"/>
            <a:ext cx="5080000" cy="1206500"/>
          </a:xfrm>
          <a:prstGeom prst="roundRect">
            <a:avLst>
              <a:gd name="adj" fmla="val 10526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34D399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349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2225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 弹性份数单位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代表剩余空间的比例份数，自动分配可用空间，比百分比更灵活。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365500"/>
            <a:ext cx="5080000" cy="1206500"/>
          </a:xfrm>
          <a:prstGeom prst="roundRect">
            <a:avLst>
              <a:gd name="adj" fmla="val 10526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34D399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3683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35560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repeat() 重复轨道定义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快速生成重复的网格轨道，语法：repeat(数量, 尺寸)，简化代码书写。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5080000" cy="1206500"/>
          </a:xfrm>
          <a:prstGeom prst="roundRect">
            <a:avLst>
              <a:gd name="adj" fmla="val 10526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34D399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5016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48895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auto-fit + minmax 响应式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结合使用可实现自适应布局，列宽有最小限制且能自动填充容器。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2032000"/>
            <a:ext cx="5207000" cy="3873500"/>
          </a:xfrm>
          <a:prstGeom prst="roundRect">
            <a:avLst>
              <a:gd name="adj" fmla="val 3278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2032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21844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31000" y="21844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985000" y="21844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366000" y="2108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style.css — CSS Grid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2603500"/>
            <a:ext cx="4826000" cy="311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.container {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display:</a:t>
            </a:r>
            <a:r>
              <a:rPr lang="en-US" sz="13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/* 1. 固定宽度三列 */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grid-template-columns: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100px 200px 100px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/* 2. 等宽三列 (fr单位) */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grid-template-columns:</a:t>
            </a:r>
            <a:r>
              <a:rPr lang="en-US" sz="13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1fr 1fr 1fr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/* 3. 响应式自动填充 */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grid-template-columns:</a:t>
            </a:r>
            <a:r>
              <a:rPr lang="en-US" sz="13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repeat(auto-fit, minmax(200px, 1fr))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6096000"/>
            <a:ext cx="10668000" cy="457200"/>
          </a:xfrm>
          <a:prstGeom prst="roundRect">
            <a:avLst>
              <a:gd name="adj" fmla="val 5000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34D399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60960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核心总结：灵活定义列宽，适配不同布局需求，是构建现代响应式网页的基础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941" t="2631" r="2941" b="26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 布局：项目位置与跨度控制 (grid-column / grid-row)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核心机制：网格线定位法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通过指定项目的“起始/结束网格线”，精准控制元素在容器中的位置与占据范围，轻松实现跨行跨列的复杂布局效果。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65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556000"/>
            <a:ext cx="558800" cy="558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14500" y="3492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跨行跨列自由组合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突破传统流式布局限制，灵活构建视觉层级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355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14500" y="45720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-1 代表最后一条线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无需计算总列数，快速实现通栏或对齐布局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508000"/>
          </a:xfrm>
          <a:prstGeom prst="roundRect">
            <a:avLst>
              <a:gd name="adj" fmla="val 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803400"/>
            <a:ext cx="152400" cy="152400"/>
          </a:xfrm>
          <a:prstGeom prst="ellipse">
            <a:avLst/>
          </a:prstGeom>
          <a:solidFill>
            <a:srgbClr val="F871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1803400"/>
            <a:ext cx="152400" cy="1524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985000" y="1803400"/>
            <a:ext cx="152400" cy="152400"/>
          </a:xfrm>
          <a:prstGeom prst="ellipse">
            <a:avLst/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366000" y="1752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style.css — Grid Layout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349500"/>
            <a:ext cx="469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.item {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占据第1列到第3列 (2列宽度) */</a:t>
            </a:r>
            <a:endParaRPr lang="en-US" sz="14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4D3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grid-column</a:t>
            </a: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400" b="0" i="0" u="none" strike="noStrike">
                <a:solidFill>
                  <a:srgbClr val="FCD34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 / 3</a:t>
            </a: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占据第2行到第4行 (2行高度) */</a:t>
            </a:r>
            <a:endParaRPr lang="en-US" sz="14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4D3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grid-row</a:t>
            </a: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400" b="0" i="0" u="none" strike="noStrike">
                <a:solidFill>
                  <a:srgbClr val="FCD34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 / 4</a:t>
            </a: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扩展：占据整行 (第1列到最后一列) */</a:t>
            </a:r>
            <a:endParaRPr lang="en-US" sz="14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4D3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grid-column</a:t>
            </a: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400" b="0" i="0" u="none" strike="noStrike">
                <a:solidFill>
                  <a:srgbClr val="FCD34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 / -1</a:t>
            </a: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842000"/>
            <a:ext cx="10668000" cy="558800"/>
          </a:xfrm>
          <a:prstGeom prst="roundRect">
            <a:avLst>
              <a:gd name="adj" fmla="val 22727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34D3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9436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9436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核心记忆：Grid Line 是布局的坐标，Start / End 定义了项目的边界范围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020" t="1086" r="1020" b="108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604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335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 实战案例：经典网页布局 (Header-Sidebar-Main-Footer)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334000" cy="4191000"/>
          </a:xfrm>
          <a:prstGeom prst="roundRect">
            <a:avLst>
              <a:gd name="adj" fmla="val 303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651000"/>
            <a:ext cx="5334000" cy="457200"/>
          </a:xfrm>
          <a:prstGeom prst="roundRect">
            <a:avLst>
              <a:gd name="adj" fmla="val 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526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1727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layout-demo.html / style.css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286000"/>
            <a:ext cx="4826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&lt;!-- HTML 结构 --&gt;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.page-layout { display:</a:t>
            </a:r>
            <a:r>
              <a:rPr lang="en-US" sz="13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 height: 100vh; }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grid-template-areas:</a:t>
            </a:r>
            <a:r>
              <a:rPr lang="en-US" sz="130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"header header"</a:t>
            </a:r>
            <a:endParaRPr lang="en-US" sz="1300" b="0" i="0" u="none" strike="noStrike">
              <a:solidFill>
                <a:srgbClr val="FCD34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"sidebar main"</a:t>
            </a:r>
            <a:endParaRPr lang="en-US" sz="1300" b="0" i="0" u="none" strike="noStrike">
              <a:solidFill>
                <a:srgbClr val="FCD34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"footer footer"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/* 对应区域命名 */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header { grid-area: header; }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sidebar { grid-area: sidebar; }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477000" y="1651000"/>
            <a:ext cx="4953000" cy="4191000"/>
          </a:xfrm>
          <a:prstGeom prst="roundRect">
            <a:avLst>
              <a:gd name="adj" fmla="val 303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34D399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1879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187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布局效果预览 (Visual Grid)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31000" y="2413000"/>
            <a:ext cx="4445000" cy="762000"/>
          </a:xfrm>
          <a:prstGeom prst="roundRect">
            <a:avLst>
              <a:gd name="adj" fmla="val 8333"/>
            </a:avLst>
          </a:prstGeom>
          <a:solidFill>
            <a:srgbClr val="A7F3D0">
              <a:alpha val="100000"/>
            </a:srgbClr>
          </a:solidFill>
          <a:ln w="25400" cap="flat" cmpd="sng">
            <a:solidFill>
              <a:srgbClr val="34D3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31000" y="2603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Header (Top)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3302000"/>
            <a:ext cx="1397000" cy="1524000"/>
          </a:xfrm>
          <a:prstGeom prst="roundRect">
            <a:avLst>
              <a:gd name="adj" fmla="val 4545"/>
            </a:avLst>
          </a:prstGeom>
          <a:solidFill>
            <a:srgbClr val="D1FAE5">
              <a:alpha val="100000"/>
            </a:srgbClr>
          </a:solidFill>
          <a:ln w="25400" cap="flat" cmpd="sng">
            <a:solidFill>
              <a:srgbClr val="34D3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731000" y="38100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Sidebar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3302000"/>
            <a:ext cx="2921000" cy="1524000"/>
          </a:xfrm>
          <a:prstGeom prst="roundRect">
            <a:avLst>
              <a:gd name="adj" fmla="val 4166"/>
            </a:avLst>
          </a:prstGeom>
          <a:solidFill>
            <a:srgbClr val="D1FAE5">
              <a:alpha val="100000"/>
            </a:srgbClr>
          </a:solidFill>
          <a:ln w="25400" cap="flat" cmpd="sng">
            <a:solidFill>
              <a:srgbClr val="34D3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2550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 Content (1fr)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31000" y="4953000"/>
            <a:ext cx="4445000" cy="635000"/>
          </a:xfrm>
          <a:prstGeom prst="roundRect">
            <a:avLst>
              <a:gd name="adj" fmla="val 10000"/>
            </a:avLst>
          </a:prstGeom>
          <a:solidFill>
            <a:srgbClr val="A7F3D0">
              <a:alpha val="100000"/>
            </a:srgbClr>
          </a:solidFill>
          <a:ln w="25400" cap="flat" cmpd="sng">
            <a:solidFill>
              <a:srgbClr val="34D3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31000" y="5105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Footer (Bottom)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34D399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6197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核心优势：使用 grid-template-areas 实现语义化、可视化的页面结构定义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270000" y="1524000"/>
            <a:ext cx="9652000" cy="4064000"/>
          </a:xfrm>
          <a:prstGeom prst="roundRect">
            <a:avLst>
              <a:gd name="adj" fmla="val 6250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  <a:effectLst>
            <a:outerShdw blurRad="381000" dist="190500" dir="5400000" algn="tl" rotWithShape="0">
              <a:srgbClr val="1F2937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19685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2921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spc="400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3429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 vs. Grid 对比与最佳实践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4311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rnd" cmpd="sng">
            <a:solidFill>
              <a:srgbClr val="25F4E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270000" y="4572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从一维自由到二维秩序的深度解析与场景抉择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05 核心布局实战系列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 与 Grid 核心区别：一维 vs 二维布局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334000" cy="1968500"/>
          </a:xfrm>
          <a:prstGeom prst="roundRect">
            <a:avLst>
              <a:gd name="adj" fmla="val 9677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1841500"/>
            <a:ext cx="711200" cy="711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68500" y="1778000"/>
            <a:ext cx="3937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891B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Flexbox：一维线性布局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专注单一行或列的空间分配与对齐，适合组件内部元素排列、导航栏或简单列表场景。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334000" cy="1968500"/>
          </a:xfrm>
          <a:prstGeom prst="roundRect">
            <a:avLst>
              <a:gd name="adj" fmla="val 9677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4000500"/>
            <a:ext cx="711200" cy="711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68500" y="3937000"/>
            <a:ext cx="3937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Grid：二维平面布局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同时控制行与列两个维度，精准定位元素位置，是构建网页整体复杂结构的最佳方案。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l="2830" t="2928" r="2830" b="2928"/>
          <a:stretch>
            <a:fillRect/>
          </a:stretch>
        </p:blipFill>
        <p:spPr>
          <a:xfrm>
            <a:off x="6477000" y="1524000"/>
            <a:ext cx="5080000" cy="2857500"/>
          </a:xfrm>
          <a:prstGeom prst="roundRect">
            <a:avLst>
              <a:gd name="adj" fmla="val 6666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18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6477000" y="4635500"/>
            <a:ext cx="5080000" cy="1079500"/>
          </a:xfrm>
          <a:prstGeom prst="roundRect">
            <a:avLst>
              <a:gd name="adj" fmla="val 17647"/>
            </a:avLst>
          </a:prstGeom>
          <a:gradFill rotWithShape="1">
            <a:gsLst>
              <a:gs pos="0">
                <a:srgbClr val="25F4EE">
                  <a:alpha val="100000"/>
                </a:srgbClr>
              </a:gs>
              <a:gs pos="100000">
                <a:srgbClr val="34D39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34D399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4800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核心策略：简单一维选 Flex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复杂二维布局选 Grid，二者结合效率更高！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5F4EE">
                  <a:alpha val="100000"/>
                </a:srgbClr>
              </a:gs>
              <a:gs pos="100000">
                <a:srgbClr val="34D399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最佳实践：Flexbox 与 Grid 强强联合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在实际开发中，Flexbox 和 Grid 并非互斥，而是相辅相成的。合理组合两者能兼顾布局的宏观结构与微观细节。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22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25F4EE">
              <a:alpha val="18000"/>
            </a:srgbClr>
          </a:solidFill>
          <a:ln w="12700" cap="flat" cmpd="sng">
            <a:solidFill>
              <a:srgbClr val="25F4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3749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2324100"/>
            <a:ext cx="939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黄金法则：Grid 负责宏观骨架搭建 | Flex 专注微观细节填充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207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3619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3619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 宏观布局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43000" y="4381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构建页面整体框架：定义头部、主体、侧边栏和底部等大区块的位置，确立页面的骨架结构。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2385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3238500"/>
            <a:ext cx="5207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3619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3619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 微观调整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381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填充网格项内部细节：在导航栏、按钮组等组件内，实现元素的垂直居中、间距均分或两端对齐，优化交互体验。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905500"/>
            <a:ext cx="10668000" cy="558800"/>
          </a:xfrm>
          <a:prstGeom prst="roundRect">
            <a:avLst>
              <a:gd name="adj" fmla="val 50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宏观结构 + 微观细节 = 极致优雅的 CSS 布局方案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总结与展望：现代CSS布局之道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3429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841500" y="2032000"/>
            <a:ext cx="1143000" cy="1143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286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89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Flexbox：瑞士军刀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81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解决各种一维布局问题，特别是居中、对齐和自适应排列，灵活应对日常需求。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3429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524500" y="2032000"/>
            <a:ext cx="1143000" cy="1143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22860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572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Grid：蓝图工具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81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规划复杂的二维页面结构，精准控制行与列，构建宏伟且有序的页面框架。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3429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207500" y="2032000"/>
            <a:ext cx="1143000" cy="1143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22860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255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组合拳：最高境界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18500" y="381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Flexbox与Grid结合使用，各司其职，是现代CSS布局的终极解决方案。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25F4EE">
              <a:alpha val="15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6134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行动呼吁：从今天起，尝试用Flexbox和Grid替代传统的 float 布局，体验CSS布局的简洁与强大！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ea typeface="宋体" panose="02010600030101010101" pitchFamily="2" charset="-122"/>
              </a:rPr>
              <a:t>快速问答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制作一个导航栏，包含</a:t>
            </a:r>
            <a:r>
              <a:rPr lang="en-US" altLang="zh-CN"/>
              <a:t>Logo</a:t>
            </a:r>
            <a:r>
              <a:rPr lang="zh-CN" altLang="en-US"/>
              <a:t>和多个菜单项，要求菜单项均匀分布在右侧。</a:t>
            </a:r>
            <a:endParaRPr lang="zh-CN" altLang="en-US"/>
          </a:p>
        </p:txBody>
      </p:sp>
      <p:sp>
        <p:nvSpPr>
          <p:cNvPr id="6" name="装饰  9"/>
          <p:cNvSpPr>
            <a:spLocks noGrp="1"/>
          </p:cNvSpPr>
          <p:nvPr>
            <p:ph type="body" idx="16395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设计一个包含头部、侧边栏、主内容区和页脚的经典网页布局。</a:t>
            </a:r>
            <a:r>
              <a:rPr lang="en-US" altLang="zh-CN">
                <a:sym typeface="+mn-ea"/>
              </a:rPr>
              <a:t> </a:t>
            </a:r>
            <a:endParaRPr lang="zh-CN" altLang="en-US"/>
          </a:p>
        </p:txBody>
      </p:sp>
      <p:sp>
        <p:nvSpPr>
          <p:cNvPr id="9" name="装饰  2"/>
          <p:cNvSpPr>
            <a:spLocks noGrp="1"/>
          </p:cNvSpPr>
          <p:nvPr>
            <p:ph type="body" idx="16396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创建一个响应式的图片画廊，图片数量不固定，要求在不同屏幕尺寸下自动调整列数。</a:t>
            </a:r>
            <a:r>
              <a:rPr lang="en-US" altLang="zh-CN">
                <a:sym typeface="+mn-ea"/>
              </a:rPr>
              <a:t> </a:t>
            </a:r>
            <a:endParaRPr lang="zh-CN" altLang="en-US"/>
          </a:p>
        </p:txBody>
      </p:sp>
      <p:sp>
        <p:nvSpPr>
          <p:cNvPr id="12" name="装饰  5"/>
          <p:cNvSpPr>
            <a:spLocks noGrp="1"/>
          </p:cNvSpPr>
          <p:nvPr>
            <p:ph type="body" idx="16397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3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在一个卡片组件内部，让标题和按钮分别靠上和靠下对齐。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92F">
                  <a:alpha val="92000"/>
                </a:srgbClr>
              </a:gs>
              <a:gs pos="100000">
                <a:srgbClr val="0A192F">
                  <a:alpha val="8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889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高级特效实战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778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spc="100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精通 2D/3D 转换 · 过渡效果 · 关键帧动画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2476500"/>
            <a:ext cx="1270000" cy="508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cap="flat" cmpd="sng">
            <a:solidFill>
              <a:srgbClr val="0BDBD4">
                <a:alpha val="100000"/>
              </a:srgbClr>
            </a:solidFill>
            <a:prstDash val="solid"/>
            <a:round/>
          </a:ln>
          <a:effectLst>
            <a:outerShdw blurRad="101600" dir="2700000" algn="tl" rotWithShape="0">
              <a:srgbClr val="25F4EE">
                <a:alpha val="6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500" y="3365500"/>
            <a:ext cx="889000" cy="889000"/>
          </a:xfrm>
          <a:prstGeom prst="rect">
            <a:avLst/>
          </a:prstGeom>
          <a:effectLst>
            <a:outerShdw blurRad="127000" dist="50800" dir="2700000" algn="tl" rotWithShape="0">
              <a:srgbClr val="25F4EE">
                <a:alpha val="40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889000" y="438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2D/3D 空间变换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482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打破平面限制，构建立体视觉层次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048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0" y="3365500"/>
            <a:ext cx="889000" cy="889000"/>
          </a:xfrm>
          <a:prstGeom prst="rect">
            <a:avLst/>
          </a:prstGeom>
          <a:effectLst>
            <a:outerShdw blurRad="127000" dist="50800" dir="2700000" algn="tl" rotWithShape="0">
              <a:srgbClr val="25F4EE">
                <a:alpha val="40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4508500" y="438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平滑过渡体验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482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状态切换无卡顿，提升交互细腻度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3048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7500" y="3365500"/>
            <a:ext cx="889000" cy="889000"/>
          </a:xfrm>
          <a:prstGeom prst="rect">
            <a:avLst/>
          </a:prstGeom>
          <a:effectLst>
            <a:outerShdw blurRad="127000" dist="50800" dir="2700000" algn="tl" rotWithShape="0">
              <a:srgbClr val="25F4EE">
                <a:alpha val="40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8128000" y="438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关键帧动画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482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自定义复杂运动轨迹，赋予页面生命力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5842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25F4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0" y="5905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打造极致视觉体验的核心技术栈 · 提升用户留存与转化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 | CSS3 核心视觉交互特性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778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87500" y="2159000"/>
            <a:ext cx="889000" cy="889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00" y="2349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52500" y="317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2D 转换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683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掌握元素平移、旋转、缩放与倾斜，构建灵活的平面布局变换。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67100" y="1778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467100" y="1778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292600" y="2159000"/>
            <a:ext cx="889000" cy="889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3100" y="2349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657600" y="317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3D 转换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57600" y="3683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 Transform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探索三维空间，实现透视、景深与3D旋转，打造沉浸式视觉体验。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72200" y="1778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172200" y="1778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997700" y="2159000"/>
            <a:ext cx="889000" cy="889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8200" y="2349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362700" y="317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过渡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62700" y="3683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Transition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为状态切换添加平滑过渡效果，告别生硬的突变，提升交互质感。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877300" y="1778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77300" y="1778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702800" y="2159000"/>
            <a:ext cx="889000" cy="889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93300" y="23495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067800" y="317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动画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67800" y="3683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Animation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利用关键帧技术，创建多段、复杂且精细控制的高级动画效果。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5715000"/>
            <a:ext cx="10668000" cy="635000"/>
          </a:xfrm>
          <a:prstGeom prst="roundRect">
            <a:avLst>
              <a:gd name="adj" fmla="val 40000"/>
            </a:avLst>
          </a:prstGeom>
          <a:solidFill>
            <a:srgbClr val="25F4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从基础变换到高级动效，全方位解析 CSS3 视觉能力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931" r="3846" b="37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hlinkClick r:id="rId2" action="ppaction://hlinkfile"/>
          </p:cNvPr>
          <p:cNvSpPr/>
          <p:nvPr/>
        </p:nvSpPr>
        <p:spPr>
          <a:xfrm>
            <a:off x="6604000" y="1016000"/>
            <a:ext cx="4826000" cy="4826000"/>
          </a:xfrm>
          <a:prstGeom prst="roundRect">
            <a:avLst>
              <a:gd name="adj" fmla="val 5263"/>
            </a:avLst>
          </a:prstGeom>
          <a:solidFill>
            <a:srgbClr val="FFFFFF">
              <a:alpha val="96000"/>
            </a:srgbClr>
          </a:solidFill>
          <a:ln w="25400" cap="flat" cmpd="sng">
            <a:solidFill>
              <a:srgbClr val="25F4EE">
                <a:alpha val="100000"/>
              </a:srgbClr>
            </a:solidFill>
            <a:prstDash val="solid"/>
            <a:round/>
          </a:ln>
          <a:effectLst>
            <a:outerShdw blurRad="304800" dist="152400" dir="2700000" algn="tl" rotWithShape="0">
              <a:srgbClr val="1F293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858000" y="165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82000" y="2667000"/>
            <a:ext cx="1016000" cy="1016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5200" y="28702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858000" y="3937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2D 转换 (Transform)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0" y="4953000"/>
            <a:ext cx="2794000" cy="50800"/>
          </a:xfrm>
          <a:prstGeom prst="roundRect">
            <a:avLst>
              <a:gd name="adj" fmla="val 5000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858000" y="527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基础变换 · 视觉重构 · 现代布局核心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2D转换：元素的空间魔法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203200" tIns="152400" rIns="203200" bIns="15240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的 transform 属性允许在二维空间移动、旋转、缩放和倾斜元素。它像“魔法”一样改变视觉呈现，却不影响页面的正常布局流。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5F4E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8956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79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不脱离文档流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变换后的元素仍占据原始物理空间，不影响布局。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5F4E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38600"/>
            <a:ext cx="558800" cy="558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937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GPU 硬件加速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现代浏览器自动启用硬件加速，动画更流畅高效。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5F4E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181600"/>
            <a:ext cx="558800" cy="558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5080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多变换组合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通过空格分隔属性值，可同时叠加位移、旋转等多种效果。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l="1005" r="1005"/>
          <a:stretch>
            <a:fillRect/>
          </a:stretch>
        </p:blipFill>
        <p:spPr>
          <a:xfrm>
            <a:off x="6477000" y="1397000"/>
            <a:ext cx="4953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solidFill>
              <a:srgbClr val="25F4EE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477000" y="4381500"/>
            <a:ext cx="4953000" cy="584200"/>
          </a:xfrm>
          <a:prstGeom prst="roundRect">
            <a:avLst>
              <a:gd name="adj" fmla="val 21739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2D变换效果可视化演示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143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左图展示了不同的几何变换形态，包括形状组合、透视立方体、波浪路径及网格分布，直观体现了 transform 属性在视觉设计中的多样性。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变换：translate() 平移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重新定位元素在水平和垂直方向上的位置，是实现交互位移效果的核心方法。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606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159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translate(tx, ty)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同时在 X 轴和 Y 轴上进行平移变换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306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429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translateX(tx)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仅在水平方向（X轴）上进行平移变换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006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699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translateY(ty)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仅在垂直方向（Y轴）上进行平移变换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2032000"/>
            <a:ext cx="5207000" cy="3619500"/>
          </a:xfrm>
          <a:prstGeom prst="roundRect">
            <a:avLst>
              <a:gd name="adj" fmla="val 421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2032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2032000"/>
            <a:ext cx="520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交互代码示例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667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定义过渡动画 */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.box {</a:t>
            </a:r>
            <a:endParaRPr lang="en-US" sz="13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transition:</a:t>
            </a:r>
            <a:r>
              <a:rPr lang="en-US" sz="1300" b="0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transform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0.3s ease;</a:t>
            </a:r>
            <a:endParaRPr lang="en-US" sz="13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鼠标悬停时向右下平移 */</a:t>
            </a:r>
            <a:endParaRPr lang="en-US" sz="13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.box:hover {</a:t>
            </a:r>
            <a:endParaRPr lang="en-US" sz="13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transform:</a:t>
            </a:r>
            <a:r>
              <a:rPr lang="en-US" sz="1300" b="0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translate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(50px, 20px);</a:t>
            </a:r>
            <a:endParaRPr lang="en-US" sz="13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1785" r="2000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685800"/>
            <a:ext cx="76200" cy="406400"/>
          </a:xfrm>
          <a:prstGeom prst="roundRect">
            <a:avLst>
              <a:gd name="adj" fmla="val 33333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128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变换：rotate() 旋转详解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334000" cy="4191000"/>
          </a:xfrm>
          <a:prstGeom prst="roundRect">
            <a:avLst>
              <a:gd name="adj" fmla="val 3636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651000"/>
            <a:ext cx="5334000" cy="558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18288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95400" y="18288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574800" y="18288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905000" y="1752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style.css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2413000"/>
            <a:ext cx="4826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.box</a:t>
            </a: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100"/>
          </a:p>
          <a:p>
            <a:pPr indent="25400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transition</a:t>
            </a: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transform 0.6s ease;</a:t>
            </a:r>
            <a:endParaRPr lang="en-US" sz="14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25400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transform-origin</a:t>
            </a: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bottom right;</a:t>
            </a:r>
            <a:r>
              <a:rPr lang="en-US" sz="14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旋转中心设为右下角 */</a:t>
            </a:r>
            <a:endParaRPr lang="en-US" sz="14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.box:hover</a:t>
            </a: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4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25400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transform</a:t>
            </a: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4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rotate</a:t>
            </a: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400" b="0" i="0" u="none" strike="noStrike">
                <a:solidFill>
                  <a:srgbClr val="D19A6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45deg</a:t>
            </a: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</a:t>
            </a:r>
            <a:r>
              <a:rPr lang="en-US" sz="14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顺时针旋转45度 */</a:t>
            </a:r>
            <a:endParaRPr lang="en-US" sz="14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77000" y="1651000"/>
            <a:ext cx="49530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5F4EE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31000" y="1968500"/>
            <a:ext cx="711200" cy="711200"/>
          </a:xfrm>
          <a:prstGeom prst="ellipse">
            <a:avLst/>
          </a:prstGeom>
          <a:solidFill>
            <a:srgbClr val="25F4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400" y="21209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620000" y="19050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rotate(angle) 核心语法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参数为角度值（单位deg），控制旋转幅度。正值顺时针旋转，负值逆时针旋转，例如 360deg 为一周。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3873500"/>
            <a:ext cx="49530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5F4EE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731000" y="4191000"/>
            <a:ext cx="711200" cy="711200"/>
          </a:xfrm>
          <a:prstGeom prst="ellipse">
            <a:avLst/>
          </a:prstGeom>
          <a:solidFill>
            <a:srgbClr val="25F4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3400" y="43434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620000" y="41275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transform-origin 原点控制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定义旋转/变换的中心点，默认是元素中心(50% 50%)。通过修改它（如bottom right），可实现绕任意点旋转的效果。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Transform Module Level 1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transform：scale() 缩放变换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4191000"/>
          </a:xfrm>
          <a:prstGeom prst="roundRect">
            <a:avLst>
              <a:gd name="adj" fmla="val 303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196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代码实现示例 (Hover 效果)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2540000"/>
            <a:ext cx="457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.box {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5F4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transition</a:t>
            </a:r>
            <a:r>
              <a:rPr lang="en-US" sz="1400" b="0" i="0" u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transform 0.3s ease;</a:t>
            </a:r>
            <a:endParaRPr lang="en-US" sz="1400" b="0" i="0" u="none" strike="noStrike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lang="en-US" sz="1400" b="0" i="0" u="none" strike="noStrike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.box:hover {</a:t>
            </a:r>
            <a:endParaRPr lang="en-US" sz="1400" b="0" i="0" u="none" strike="noStrike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5F4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transform</a:t>
            </a:r>
            <a:r>
              <a:rPr lang="en-US" sz="1400" b="0" i="0" u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scale(1.5, 2);</a:t>
            </a:r>
            <a:endParaRPr lang="en-US" sz="1400" b="0" i="0" u="none" strike="noStrike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lang="en-US" sz="1400" b="0" i="0" u="none" strike="noStrike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190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1841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scale(sx, sy) 基础缩放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同时控制 X 轴与 Y 轴的缩放比例，实现元素放大或缩小。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3048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302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66000" y="3238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scaleX / scaleY 单轴控制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scaleX(sx) 仅水平缩放，scaleY(sy) 仅垂直缩放，灵活变形。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445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699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4635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无单位数值参数规则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数值 1 为原始尺寸；&gt;1 放大；&lt;1 缩小；负值会导致元素翻转。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2127" r="2000" b="21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685800"/>
            <a:ext cx="101600" cy="406400"/>
          </a:xfrm>
          <a:prstGeom prst="roundRect">
            <a:avLst>
              <a:gd name="adj" fmla="val 5000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636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变形变换：skew() 倾斜效果详解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00" cy="4191000"/>
          </a:xfrm>
          <a:prstGeom prst="roundRect">
            <a:avLst>
              <a:gd name="adj" fmla="val 303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19685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核心代码实现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4572000" cy="2921000"/>
          </a:xfrm>
          <a:prstGeom prst="roundRect">
            <a:avLst>
              <a:gd name="adj" fmla="val 2173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19050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.box {</a:t>
            </a:r>
            <a:endParaRPr lang="en-US" sz="1100"/>
          </a:p>
          <a:p>
            <a:pPr marL="190500"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transition: transform 0.3s ease;</a:t>
            </a:r>
            <a:endParaRPr lang="en-US" sz="1400" b="0" i="0" u="none" strike="noStrike">
              <a:solidFill>
                <a:srgbClr val="A0AEC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.box:hover {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0500"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transform: skew(30deg, 10deg);</a:t>
            </a:r>
            <a:endParaRPr lang="en-US" sz="1400" b="0" i="0" u="none" strike="noStrike">
              <a:solidFill>
                <a:srgbClr val="25F4E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050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1809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沿X轴倾斜30度，Y轴倾斜10度 */</a:t>
            </a:r>
            <a:endParaRPr lang="en-US" sz="1200" b="0" i="0" u="none" strike="noStrike">
              <a:solidFill>
                <a:srgbClr val="71809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25F4EE">
              <a:alpha val="10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905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66000" y="1841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skew(ax, ay)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同时在X轴和Y轴上进行倾斜变换，参数为角度值。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3048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25F4EE">
              <a:alpha val="10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3302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66000" y="3238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skewX(ax)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仅在水平方向（X轴）倾斜，使元素左右倾斜变形。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4445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25F4EE">
              <a:alpha val="10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699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66000" y="4635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skewY(ay)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仅在垂直方向（Y轴）倾斜，使元素上下倾斜变形。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1F293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核心提示：倾斜角度单位为</a:t>
            </a:r>
            <a:r>
              <a:rPr lang="en-US" sz="1400" b="1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deg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，正值通常向右/下倾斜，负值向左/上倾斜。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4237" r="3846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hlinkClick r:id="rId2" action="ppaction://hlinkfile"/>
          </p:cNvPr>
          <p:cNvSpPr/>
          <p:nvPr/>
        </p:nvSpPr>
        <p:spPr>
          <a:xfrm>
            <a:off x="5207000" y="16510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2095500"/>
            <a:ext cx="914400" cy="914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731000" y="2286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spc="200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731000" y="2794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 Transform Module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3302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3D 转换：开启立体视界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588000" y="4254500"/>
            <a:ext cx="5461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5F4EE">
                  <a:alpha val="100000"/>
                </a:srgbClr>
              </a:gs>
              <a:gs pos="100000">
                <a:srgbClr val="25F4EE">
                  <a:alpha val="2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588000" y="45085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在2D转换基础上引入Z轴，突破平面限制，创造沉浸式视觉体验。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" y="596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spc="1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NEXT: 透视与景深设置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从2D到3D：引入第三维度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40000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875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3D转换的关键在于</a:t>
            </a:r>
            <a:r>
              <a:rPr lang="en-US" sz="15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透视 (Perspective)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。通过为父容器设置属性，构建视觉深度的“舞台”。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76500"/>
            <a:ext cx="5588000" cy="1714500"/>
          </a:xfrm>
          <a:prstGeom prst="roundRect">
            <a:avLst>
              <a:gd name="adj" fmla="val 7407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603500"/>
            <a:ext cx="5207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Menlo"/>
                <a:ea typeface="Menlo"/>
                <a:cs typeface="Menlo"/>
                <a:sym typeface="Menlo"/>
              </a:rPr>
              <a:t>.stage { perspective:</a:t>
            </a:r>
            <a:r>
              <a:rPr lang="en-US" sz="1300" b="0" i="0" u="none" strike="noStrike">
                <a:solidFill>
                  <a:srgbClr val="25F4EE"/>
                </a:solidFill>
                <a:latin typeface="Menlo"/>
                <a:ea typeface="Menlo"/>
                <a:cs typeface="Menlo"/>
                <a:sym typeface="Menlo"/>
              </a:rPr>
              <a:t>500px</a:t>
            </a:r>
            <a:r>
              <a:rPr lang="en-US" sz="1300" b="0" i="0" u="none" strike="noStrike">
                <a:solidFill>
                  <a:srgbClr val="E2E8F0"/>
                </a:solidFill>
                <a:latin typeface="Menlo"/>
                <a:ea typeface="Menlo"/>
                <a:cs typeface="Menlo"/>
                <a:sym typeface="Menlo"/>
              </a:rPr>
              <a:t>; }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Menlo"/>
                <a:ea typeface="Menlo"/>
                <a:cs typeface="Menlo"/>
                <a:sym typeface="Menlo"/>
              </a:rPr>
              <a:t>.box:hover { transform:</a:t>
            </a:r>
            <a:r>
              <a:rPr lang="en-US" sz="1300" b="0" i="0" u="none" strike="noStrike">
                <a:solidFill>
                  <a:srgbClr val="25F4EE"/>
                </a:solidFill>
                <a:latin typeface="Menlo"/>
                <a:ea typeface="Menlo"/>
                <a:cs typeface="Menlo"/>
                <a:sym typeface="Menlo"/>
              </a:rPr>
              <a:t>rotateY(45deg)</a:t>
            </a:r>
            <a:r>
              <a:rPr lang="en-US" sz="1300" b="0" i="0" u="none" strike="noStrike">
                <a:solidFill>
                  <a:srgbClr val="E2E8F0"/>
                </a:solidFill>
                <a:latin typeface="Menlo"/>
                <a:ea typeface="Menlo"/>
                <a:cs typeface="Menlo"/>
                <a:sym typeface="Menlo"/>
              </a:rPr>
              <a:t>; }</a:t>
            </a:r>
            <a:endParaRPr lang="en-US" sz="1300" b="0" i="0" u="none" strike="noStrike">
              <a:solidFill>
                <a:srgbClr val="E2E8F0"/>
              </a:solidFill>
              <a:latin typeface="Menlo"/>
              <a:ea typeface="Menlo"/>
              <a:cs typeface="Menlo"/>
              <a:sym typeface="Menlo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视距越近(值越小)，3D效果越夸张</a:t>
            </a:r>
            <a:endParaRPr lang="en-US" sz="11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381500"/>
            <a:ext cx="5588000" cy="1206500"/>
          </a:xfrm>
          <a:prstGeom prst="roundRect">
            <a:avLst>
              <a:gd name="adj" fmla="val 10526"/>
            </a:avLst>
          </a:prstGeom>
          <a:solidFill>
            <a:srgbClr val="F0FDFC">
              <a:alpha val="100000"/>
            </a:srgbClr>
          </a:solidFill>
          <a:ln w="12700" cap="flat" cmpd="sng">
            <a:solidFill>
              <a:srgbClr val="25F4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635500"/>
            <a:ext cx="698500" cy="6985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45085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核心：Perspective 属性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定义观察者与Z轴平面的距离。数值越小，透视畸变越强烈，立体感越强。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l="50000" b="50000"/>
          <a:stretch>
            <a:fillRect/>
          </a:stretch>
        </p:blipFill>
        <p:spPr>
          <a:xfrm>
            <a:off x="6731000" y="1587500"/>
            <a:ext cx="4699000" cy="2540000"/>
          </a:xfrm>
          <a:prstGeom prst="roundRect">
            <a:avLst>
              <a:gd name="adj" fmla="val 500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6731000" y="4381500"/>
            <a:ext cx="4699000" cy="1206500"/>
          </a:xfrm>
          <a:prstGeom prst="roundRect">
            <a:avLst>
              <a:gd name="adj" fmla="val 10526"/>
            </a:avLst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0" y="4673600"/>
            <a:ext cx="571500" cy="5715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747000" y="45720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视觉呈现效果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 立方体在空间中沿 Y 轴旋转，展示了透视带来的近大远小视觉深度。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0" y="6324600"/>
            <a:ext cx="1219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3D Transformation Basics - 2026 Edition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3D变换核心：transform-style: preserve-3d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00" cy="6096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98600" y="1803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核心代码实现 (Card Flip)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13000"/>
            <a:ext cx="4572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.card {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transition: transform 0.8s;</a:t>
            </a:r>
            <a:endParaRPr lang="en-US" sz="13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transform-style: preserve-3d;</a:t>
            </a:r>
            <a:r>
              <a:rPr lang="en-US" sz="13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保持3D空间 */</a:t>
            </a:r>
            <a:endParaRPr lang="en-US" sz="13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3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.card:hover { transform: rotateY(180deg); }</a:t>
            </a:r>
            <a:endParaRPr lang="en-US" sz="13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.front, .back {</a:t>
            </a:r>
            <a:endParaRPr lang="en-US" sz="13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backface-visibility: hidden;</a:t>
            </a:r>
            <a:r>
              <a:rPr lang="en-US" sz="13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背面不可见 */</a:t>
            </a:r>
            <a:endParaRPr lang="en-US" sz="13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3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2032000"/>
            <a:ext cx="1016000" cy="1016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3700" y="22352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747000" y="1968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preserve-3d 核心作用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默认情况下，父元素3D变换会导致子元素扁平化。设置该属性后，子元素将保留其独立的3D空间，是构建立方体、翻转卡片等3D场景的必要条件。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393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4318000"/>
            <a:ext cx="1016000" cy="1016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3700" y="45212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747000" y="4254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backface-visibility: hidden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隐藏元素的“背面”。在翻转动画中，这能防止背面穿透显示到正面，确保卡片正面和背面在旋转时互不干扰，是实现无缝翻转的关键技巧。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综合案例：3D旋转相册 —— CSS3高级特效实战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19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从空间构建到动态交互，全方位解析3D视觉效果的实现逻辑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841500"/>
            <a:ext cx="4826000" cy="990600"/>
          </a:xfrm>
          <a:prstGeom prst="roundRect">
            <a:avLst>
              <a:gd name="adj" fmla="val 12820"/>
            </a:avLst>
          </a:prstGeom>
          <a:solidFill>
            <a:srgbClr val="25F4EE">
              <a:alpha val="10000"/>
            </a:srgbClr>
          </a:solidFill>
          <a:ln w="25400" cap="flat" cmpd="sng">
            <a:solidFill>
              <a:srgbClr val="25F4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574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930400"/>
            <a:ext cx="3683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3D空间构建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perspective定义景深，preserve-3d保留3D变换，rotateY()实现立体旋转。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2946400"/>
            <a:ext cx="4826000" cy="990600"/>
          </a:xfrm>
          <a:prstGeom prst="roundRect">
            <a:avLst>
              <a:gd name="adj" fmla="val 12820"/>
            </a:avLst>
          </a:prstGeom>
          <a:solidFill>
            <a:srgbClr val="25F4EE">
              <a:alpha val="10000"/>
            </a:srgbClr>
          </a:solidFill>
          <a:ln w="25400" cap="flat" cmpd="sng">
            <a:solidFill>
              <a:srgbClr val="25F4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62300"/>
            <a:ext cx="558800" cy="558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3035300"/>
            <a:ext cx="3683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平滑过渡体验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transition 属性，消除旋转过程中的画面割裂感，提升视觉流畅度。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051300"/>
            <a:ext cx="4826000" cy="990600"/>
          </a:xfrm>
          <a:prstGeom prst="roundRect">
            <a:avLst>
              <a:gd name="adj" fmla="val 12820"/>
            </a:avLst>
          </a:prstGeom>
          <a:solidFill>
            <a:srgbClr val="25F4EE">
              <a:alpha val="10000"/>
            </a:srgbClr>
          </a:solidFill>
          <a:ln w="25400" cap="flat" cmpd="sng">
            <a:solidFill>
              <a:srgbClr val="25F4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267200"/>
            <a:ext cx="558800" cy="558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4140200"/>
            <a:ext cx="3683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自动旋转动画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@keyframes 定义关键帧动画，让相册实现持续的、自动的360度旋转。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156200"/>
            <a:ext cx="4826000" cy="990600"/>
          </a:xfrm>
          <a:prstGeom prst="roundRect">
            <a:avLst>
              <a:gd name="adj" fmla="val 12820"/>
            </a:avLst>
          </a:prstGeom>
          <a:solidFill>
            <a:srgbClr val="25F4EE">
              <a:alpha val="10000"/>
            </a:srgbClr>
          </a:solidFill>
          <a:ln w="25400" cap="flat" cmpd="sng">
            <a:solidFill>
              <a:srgbClr val="25F4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3721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14500" y="5245100"/>
            <a:ext cx="3683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 交互控制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编写简单脚本控制 animation-play-state，实现暂停/播放与方向切换的交互。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rcRect l="4545" r="4545"/>
          <a:stretch>
            <a:fillRect/>
          </a:stretch>
        </p:blipFill>
        <p:spPr>
          <a:xfrm>
            <a:off x="5969000" y="1841500"/>
            <a:ext cx="5334000" cy="3302000"/>
          </a:xfrm>
          <a:prstGeom prst="roundRect">
            <a:avLst>
              <a:gd name="adj" fmla="val 5769"/>
            </a:avLst>
          </a:prstGeom>
          <a:noFill/>
          <a:ln w="38100" cap="flat" cmpd="sng">
            <a:solidFill>
              <a:srgbClr val="25F4EE">
                <a:alpha val="100000"/>
              </a:srgbClr>
            </a:solidFill>
            <a:prstDash val="solid"/>
            <a:round/>
          </a:ln>
          <a:effectLst>
            <a:outerShdw blurRad="317500" dist="127000" dir="2700000" algn="tl" rotWithShape="0">
              <a:srgbClr val="25F4EE">
                <a:alpha val="40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5969000" y="5270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▲ 3D旋转相册最终效果预览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hlinkClick r:id="rId2" action="ppaction://hlinkfile"/>
          </p:cNvPr>
          <p:cNvSpPr/>
          <p:nvPr/>
        </p:nvSpPr>
        <p:spPr>
          <a:xfrm>
            <a:off x="4572000" y="1016000"/>
            <a:ext cx="6858000" cy="4826000"/>
          </a:xfrm>
          <a:prstGeom prst="roundRect">
            <a:avLst>
              <a:gd name="adj" fmla="val 5263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52400" dir="5400000" algn="tl" rotWithShape="0">
              <a:srgbClr val="1F2937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4600" y="1524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572000" y="2540000"/>
            <a:ext cx="685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spc="300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0" y="3111500"/>
            <a:ext cx="685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过渡 (Transition)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39000" y="40005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0" y="4445000"/>
            <a:ext cx="584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让元素的状态变化不再生硬跳变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赋予界面更细腻的动态反馈与交互质感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2000" y="5715000"/>
            <a:ext cx="6858000" cy="127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4716" t="4697" r="4716" b="469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过渡：让样式变化平滑自然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4605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过渡允许我们在元素从一种样式变为另一种样式时，为其属性变化添加一个平滑的动画效果，避免突变带来的视觉突兀。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2565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交互触发机制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通常由用户行为触发，如 :hover 悬停或 :focus 聚焦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10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3708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自动补间动画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浏览器自动计算起始与结束状态间的中间帧，无需手动控制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4851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精准属性控制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可灵活指定对哪些 CSS 属性（如宽高、颜色）应用过渡效果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l="9839" t="7142" r="9839" b="7142"/>
          <a:stretch>
            <a:fillRect/>
          </a:stretch>
        </p:blipFill>
        <p:spPr>
          <a:xfrm>
            <a:off x="6604000" y="1651000"/>
            <a:ext cx="5080000" cy="3048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604000" y="4826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视觉示意：从静态几何图形到动态平滑演变的过程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0" y="622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核心价值：提升用户交互体验，赋予界面流畅的生命力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过渡：transition 简写形式与最佳实践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1270000" cy="12700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762000" cy="762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" y="3302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6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transition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简写属性，可将四个过渡参数合并为一行代码，提升开发效率与代码简洁度。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3810000" cy="1143000"/>
          </a:xfrm>
          <a:prstGeom prst="roundRect">
            <a:avLst>
              <a:gd name="adj" fmla="val 11111"/>
            </a:avLst>
          </a:prstGeom>
          <a:solidFill>
            <a:srgbClr val="E6FCFC">
              <a:alpha val="100000"/>
            </a:srgbClr>
          </a:solidFill>
          <a:ln w="12700" cap="flat" cmpd="sng">
            <a:solidFill>
              <a:srgbClr val="25F4EE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5F4E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736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597400"/>
            <a:ext cx="279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性能优化建议：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避免使用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all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，明确指定过渡属性（如 transform），减少浏览器重绘开销。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953000" y="1905000"/>
            <a:ext cx="6477000" cy="3683000"/>
          </a:xfrm>
          <a:prstGeom prst="roundRect">
            <a:avLst>
              <a:gd name="adj" fmla="val 3448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953000" y="1905000"/>
            <a:ext cx="6477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2006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651500" y="2006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transition.css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07000" y="2603500"/>
            <a:ext cx="596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A0AE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简写形式：all | duration | timing | delay */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transition:</a:t>
            </a:r>
            <a:r>
              <a:rPr lang="en-US" sz="14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all 0.3s ease-in-out 0.1s;</a:t>
            </a:r>
            <a:endParaRPr lang="en-US" sz="14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0AE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等价于分开写：*/</a:t>
            </a:r>
            <a:endParaRPr lang="en-US" sz="1300" b="0" i="0" u="none" strike="noStrike">
              <a:solidFill>
                <a:srgbClr val="A0AEC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transition-property:</a:t>
            </a:r>
            <a:r>
              <a:rPr lang="en-US" sz="14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all;</a:t>
            </a:r>
            <a:r>
              <a:rPr lang="en-US" sz="1300" b="0" i="0" u="none" strike="noStrike">
                <a:solidFill>
                  <a:srgbClr val="A0AE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过渡属性 */</a:t>
            </a:r>
            <a:endParaRPr lang="en-US" sz="1300" b="0" i="0" u="none" strike="noStrike">
              <a:solidFill>
                <a:srgbClr val="A0AEC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transition-duration:</a:t>
            </a:r>
            <a:r>
              <a:rPr lang="en-US" sz="14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0.3s;</a:t>
            </a:r>
            <a:r>
              <a:rPr lang="en-US" sz="1300" b="0" i="0" u="none" strike="noStrike">
                <a:solidFill>
                  <a:srgbClr val="A0AE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持续时间 */</a:t>
            </a:r>
            <a:endParaRPr lang="en-US" sz="1300" b="0" i="0" u="none" strike="noStrike">
              <a:solidFill>
                <a:srgbClr val="A0AEC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transition-timing-function:</a:t>
            </a:r>
            <a:r>
              <a:rPr lang="en-US" sz="14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ease-in-out;</a:t>
            </a:r>
            <a:r>
              <a:rPr lang="en-US" sz="1300" b="0" i="0" u="none" strike="noStrike">
                <a:solidFill>
                  <a:srgbClr val="A0AE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速度曲线 */</a:t>
            </a:r>
            <a:endParaRPr lang="en-US" sz="1300" b="0" i="0" u="none" strike="noStrike">
              <a:solidFill>
                <a:srgbClr val="A0AEC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25F4E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transition-delay:</a:t>
            </a:r>
            <a:r>
              <a:rPr lang="en-US" sz="14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0.1s;</a:t>
            </a:r>
            <a:r>
              <a:rPr lang="en-US" sz="1300" b="0" i="0" u="none" strike="noStrike">
                <a:solidFill>
                  <a:srgbClr val="A0AE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延迟时间 */</a:t>
            </a:r>
            <a:endParaRPr lang="en-US" sz="1300" b="0" i="0" u="none" strike="noStrike">
              <a:solidFill>
                <a:srgbClr val="A0AEC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0" y="6426200"/>
            <a:ext cx="1219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Transition Best Practice: Be Specific, Not All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2127" r="2000" b="21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032000"/>
            <a:ext cx="1219200" cy="1219200"/>
          </a:xfrm>
          <a:prstGeom prst="rect">
            <a:avLst/>
          </a:prstGeom>
          <a:effectLst>
            <a:outerShdw blurRad="101600" dist="508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143000" y="3556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457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ANIMATION MODULE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5334000"/>
            <a:ext cx="762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3">
            <a:hlinkClick r:id="rId4" action="ppaction://hlinkfile"/>
          </p:cNvPr>
          <p:cNvSpPr/>
          <p:nvPr/>
        </p:nvSpPr>
        <p:spPr>
          <a:xfrm>
            <a:off x="4699000" y="1373505"/>
            <a:ext cx="6858000" cy="4826000"/>
          </a:xfrm>
          <a:prstGeom prst="roundRect">
            <a:avLst>
              <a:gd name="adj" fmla="val 5263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52400" dir="5400000" algn="tl" rotWithShape="0">
              <a:srgbClr val="1F2937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0" y="2032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CSS3 动画 (Animation)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0" y="2984500"/>
            <a:ext cx="1016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cap="flat" cmpd="sng">
            <a:solidFill>
              <a:srgbClr val="0BDB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080000" y="3429000"/>
            <a:ext cx="609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突破过渡（Transition）的交互限制，利用关键帧（@keyframes）定义复杂的动态过程，支持自动播放、循环执行与多状态切换。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0" y="4953000"/>
            <a:ext cx="2921000" cy="762000"/>
          </a:xfrm>
          <a:prstGeom prst="roundRect">
            <a:avLst>
              <a:gd name="adj" fmla="val 16666"/>
            </a:avLst>
          </a:prstGeom>
          <a:solidFill>
            <a:srgbClr val="25F4EE">
              <a:alpha val="1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0500" y="5143500"/>
            <a:ext cx="381000" cy="381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778500" y="51054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自动触发播放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91500" y="4953000"/>
            <a:ext cx="2921000" cy="762000"/>
          </a:xfrm>
          <a:prstGeom prst="roundRect">
            <a:avLst>
              <a:gd name="adj" fmla="val 16666"/>
            </a:avLst>
          </a:prstGeom>
          <a:solidFill>
            <a:srgbClr val="25F4EE">
              <a:alpha val="10000"/>
            </a:srgbClr>
          </a:solidFill>
          <a:ln w="12700" cap="flat" cmpd="sng">
            <a:solidFill>
              <a:srgbClr val="25F4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51435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51054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无限循环与控制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什么是关键帧动画？CSS3 Animation 核心解析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520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与过渡不同，CSS3动画（Animation）无需用户交互即可自动播放，并且可以通过定义多个关键状态（关键帧），实现更细腻、复杂的序列动画效果。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76200" cy="8255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921000"/>
            <a:ext cx="711200" cy="711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68500" y="28194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@keyframes 规则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动画的“剧本”，定义元素在0%到100%进度中的具体样式变化。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254500"/>
            <a:ext cx="76200" cy="8255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43180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68500" y="42164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animation-* 属性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动画的“播放器”，将写好的规则绑定到元素上，控制播放时长与次数。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50000" t="50000"/>
          <a:stretch>
            <a:fillRect/>
          </a:stretch>
        </p:blipFill>
        <p:spPr>
          <a:xfrm>
            <a:off x="6477000" y="1460500"/>
            <a:ext cx="4953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solidFill>
              <a:srgbClr val="25F4EE">
                <a:alpha val="4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477000" y="4445000"/>
            <a:ext cx="4953000" cy="952500"/>
          </a:xfrm>
          <a:prstGeom prst="roundRect">
            <a:avLst>
              <a:gd name="adj" fmla="val 10666"/>
            </a:avLst>
          </a:prstGeom>
          <a:solidFill>
            <a:srgbClr val="25F4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67500" y="45720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视觉示意：时间轴上的关键帧标记（Keyframes）决定了元素在动画序列中的位置与状态。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394" t="3448" r="3491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@keyframes：定义 CSS 动画的核心规则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778000"/>
            <a:ext cx="711200" cy="711200"/>
          </a:xfrm>
          <a:prstGeom prst="rect">
            <a:avLst/>
          </a:prstGeom>
          <a:effectLst>
            <a:outerShdw blurRad="127000" dist="50800" dir="2700000" algn="tl" rotWithShape="0">
              <a:srgbClr val="25F4EE">
                <a:alpha val="4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1651000" y="1841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动画的“关键帧”逻辑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@keyframes 规则用于创建自定义动画，它通过定义从 0%（开始）到 100%（结束）不同阶段的 CSS 样式，来控制动画的中间步骤。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你可以在任何百分比位置设置样式，浏览器会自动补间计算中间状态。</a:t>
            </a:r>
            <a:endParaRPr lang="en-US" sz="15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699000"/>
            <a:ext cx="4953000" cy="1016000"/>
          </a:xfrm>
          <a:prstGeom prst="roundRect">
            <a:avLst>
              <a:gd name="adj" fmla="val 12500"/>
            </a:avLst>
          </a:prstGeom>
          <a:solidFill>
            <a:srgbClr val="25F4EE">
              <a:alpha val="18000"/>
            </a:srgbClr>
          </a:solidFill>
          <a:ln w="25400" cap="flat" cmpd="sng">
            <a:solidFill>
              <a:srgbClr val="25F4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核心价值：精确控制动画每一帧细节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0" y="1651000"/>
            <a:ext cx="5334000" cy="4318000"/>
          </a:xfrm>
          <a:prstGeom prst="roundRect">
            <a:avLst>
              <a:gd name="adj" fmla="val 3529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096000" y="1651000"/>
            <a:ext cx="5334000" cy="558800"/>
          </a:xfrm>
          <a:prstGeom prst="roundRect">
            <a:avLst>
              <a:gd name="adj" fmla="val 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8288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18288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858000" y="18288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239000" y="1803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style.css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413000"/>
            <a:ext cx="4826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@keyframes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colorChange {</a:t>
            </a:r>
            <a:endParaRPr lang="en-US" sz="1100"/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0% {</a:t>
            </a:r>
            <a:r>
              <a:rPr lang="en-US" sz="1300" b="0" i="0" u="none" strike="noStrike">
                <a:solidFill>
                  <a:srgbClr val="FCA5A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background-color: red;</a:t>
            </a: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50% {</a:t>
            </a:r>
            <a:r>
              <a:rPr lang="en-US" sz="1300" b="0" i="0" u="none" strike="noStrike">
                <a:solidFill>
                  <a:srgbClr val="FDE04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background-color: yellow;</a:t>
            </a: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50% {</a:t>
            </a:r>
            <a:r>
              <a:rPr lang="en-US" sz="1300" b="0" i="0" u="none" strike="noStrike">
                <a:solidFill>
                  <a:srgbClr val="BFDBF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transform: scale(1.5);</a:t>
            </a: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100% {</a:t>
            </a:r>
            <a:r>
              <a:rPr lang="en-US" sz="1300" b="0" i="0" u="none" strike="noStrike">
                <a:solidFill>
                  <a:srgbClr val="93C5F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background-color: blue;</a:t>
            </a: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E2E8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调用：animation: colorChange 2s infinite; */</a:t>
            </a:r>
            <a:endParaRPr lang="en-US" sz="1300" b="0" i="0" u="none" strike="noStrike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71500" y="698500"/>
            <a:ext cx="76200" cy="4064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635000"/>
            <a:ext cx="10795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CSS动画的控制属性：animation-* 系列详解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52400" dir="2700000" algn="tl" rotWithShape="0">
              <a:srgbClr val="000000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核心代码：animation 简写形式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24130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.box {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animation:</a:t>
            </a:r>
            <a:r>
              <a:rPr lang="en-US" sz="1400" b="1" i="0" u="none" strike="noStrike">
                <a:solidFill>
                  <a:srgbClr val="25F4E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colorChange 2s ease-in-out 1s infinite alternate forwards</a:t>
            </a:r>
            <a:r>
              <a:rPr lang="en-US" sz="14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4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4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/* 包含名称、时长、速度曲线、延迟、次数、方向、填充模式 */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1765300"/>
            <a:ext cx="431800" cy="431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727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animation-name：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指定动画名称（与 @keyframes 对应）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438400"/>
            <a:ext cx="5207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552700"/>
            <a:ext cx="431800" cy="431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2514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animation-duration：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动画持续时间（如 2s）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225800"/>
            <a:ext cx="5207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340100"/>
            <a:ext cx="431800" cy="431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302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iteration-count：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播放次数（infinite 表示无限循环）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13200"/>
            <a:ext cx="5207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127500"/>
            <a:ext cx="431800" cy="431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4089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animation-direction：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播放方向（alternate 交替反向）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800600"/>
            <a:ext cx="5207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914900"/>
            <a:ext cx="431800" cy="431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48768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F4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animation-fill-mode：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结束后状态（forwards 保持最后一帧）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651500"/>
            <a:ext cx="10668000" cy="635000"/>
          </a:xfrm>
          <a:prstGeom prst="roundRect">
            <a:avLst>
              <a:gd name="adj" fmla="val 24000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5753100"/>
            <a:ext cx="1066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核心洞察：灵活组合这些属性，能实现从简单过渡到复杂交互动画的精准控制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总结与展望：CSS 变换与动画核心回顾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540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473200" y="2032000"/>
            <a:ext cx="1117600" cy="11176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6400" y="22352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89000" y="323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2D/3D 变换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68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改变元素形态和位置的基础，通过 transform 属性实现位移、旋转与缩放。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67100" y="1651000"/>
            <a:ext cx="2540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67100" y="165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178300" y="2032000"/>
            <a:ext cx="1117600" cy="11176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500" y="22352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594100" y="323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过渡效果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594100" y="368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为元素状态变化提供简单、优雅的补间动画，让交互更加平滑自然。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72200" y="1651000"/>
            <a:ext cx="2540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172200" y="165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883400" y="2032000"/>
            <a:ext cx="1117600" cy="11176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6600" y="2235200"/>
            <a:ext cx="711200" cy="711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299200" y="323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关键帧动画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99200" y="368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提供创建复杂、独立序列动画的能力，支持精细控制每一帧的样式。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77300" y="1651000"/>
            <a:ext cx="2540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877300" y="165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5F4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88500" y="2032000"/>
            <a:ext cx="1117600" cy="1117600"/>
          </a:xfrm>
          <a:prstGeom prst="ellipse">
            <a:avLst/>
          </a:prstGeom>
          <a:solidFill>
            <a:srgbClr val="25F4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1700" y="2235200"/>
            <a:ext cx="711200" cy="711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004300" y="323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004300" y="368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优先使用 transform 和 opacity 属性，避免布局抖动，触发 GPU 硬件加速。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25F4EE">
              <a:alpha val="12000"/>
            </a:srgbClr>
          </a:solidFill>
          <a:ln w="12700" cap="flat" cmpd="sng">
            <a:solidFill>
              <a:srgbClr val="25F4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5372100"/>
            <a:ext cx="558800" cy="558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905000" y="52705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CSS 动画和变换技术生态仍在快速迭代，未来将有更多原生特性与高性能渲染方案被引入，为 Web 动效带来无限可能。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f21f524453868e17b49dd95946bf8e5c9c4ec4"/>
  <p:tag name="KSO_WM_NEWLAYOUT_ID" val="slide_7986a09e498dbba3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3"/>
  <p:tag name="KSO_WM_UNIT_SUBTYPE" val="d"/>
  <p:tag name="KSO_WM_UNIT_TYPE" val="l_h_i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5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6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7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8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9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2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3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4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5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6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7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8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9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0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1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2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3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4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35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36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37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38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39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40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41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42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43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44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45.xml><?xml version="1.0" encoding="utf-8"?>
<p:tagLst xmlns:p="http://schemas.openxmlformats.org/presentationml/2006/main">
  <p:tag name="KSO_WM_DIAGRAM_VIRTUALLY_FRAME" val="{&quot;height&quot;:275,&quot;left&quot;:60,&quot;top&quot;:225,&quot;width&quot;:420}"/>
</p:tagLst>
</file>

<file path=ppt/tags/tag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f21f524453868e17b49dd95946bf8e5c9c4ec4"/>
  <p:tag name="KSO_WM_NEWLAYOUT_ID" val="slide_7986a09e498dbba3"/>
</p:tagLst>
</file>

<file path=ppt/tags/tag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3"/>
  <p:tag name="KSO_WM_UNIT_SUBTYPE" val="d"/>
  <p:tag name="KSO_WM_UNIT_TYPE" val="l_h_i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SLIDE_ID" val="slide_7986a09e498dbba3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10194</Words>
  <Application>WPS 演示</Application>
  <PresentationFormat/>
  <Paragraphs>764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Arial</vt:lpstr>
      <vt:lpstr>宋体</vt:lpstr>
      <vt:lpstr>Wingdings</vt:lpstr>
      <vt:lpstr>Arial</vt:lpstr>
      <vt:lpstr>Noto Sans SC</vt:lpstr>
      <vt:lpstr>微软雅黑</vt:lpstr>
      <vt:lpstr>Consolas</vt:lpstr>
      <vt:lpstr>Roboto Mono</vt:lpstr>
      <vt:lpstr>Segoe Print</vt:lpstr>
      <vt:lpstr>Arial Unicode MS</vt:lpstr>
      <vt:lpstr>Source Code Pro</vt:lpstr>
      <vt:lpstr>JetBrains Mono</vt:lpstr>
      <vt:lpstr>Menlo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机器猫</cp:lastModifiedBy>
  <cp:revision>4</cp:revision>
  <dcterms:created xsi:type="dcterms:W3CDTF">2026-04-09T12:33:00Z</dcterms:created>
  <dcterms:modified xsi:type="dcterms:W3CDTF">2026-04-09T13:56:52Z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61E98BA23CFA484B9EC4128502C3C49E_13</vt:lpwstr>
  </property>
</Properties>
</file>